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2" roundtripDataSignature="AMtx7mgix8GrJsPoh/RGnHdqUn8AvFqN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72BF64-8FCE-464B-A9F1-85F291E201E3}">
  <a:tblStyle styleId="{BF72BF64-8FCE-464B-A9F1-85F291E201E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32"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t>Sleep is something we do every day, but we often don’t realize how deeply it affects our physical and mental health. Poor sleep can lead to problems like stress, low productivity, mood issues, and even serious conditions like cardiovascular disease or obesity.</a:t>
            </a:r>
            <a:endParaRPr sz="1100"/>
          </a:p>
          <a:p>
            <a:pPr indent="0" lvl="0" marL="0" rtl="0" algn="l">
              <a:lnSpc>
                <a:spcPct val="100000"/>
              </a:lnSpc>
              <a:spcBef>
                <a:spcPts val="0"/>
              </a:spcBef>
              <a:spcAft>
                <a:spcPts val="0"/>
              </a:spcAft>
              <a:buClr>
                <a:schemeClr val="dk1"/>
              </a:buClr>
              <a:buSzPts val="1100"/>
              <a:buFont typeface="Arial"/>
              <a:buNone/>
            </a:pPr>
            <a:r>
              <a:rPr lang="en-US" sz="1100"/>
              <a:t>In real life, more and more people, especially students and working adults, face sleep problems, but they don't always understand the causes.</a:t>
            </a:r>
            <a:endParaRPr sz="1100"/>
          </a:p>
          <a:p>
            <a:pPr indent="0" lvl="0" marL="0" rtl="0" algn="l">
              <a:lnSpc>
                <a:spcPct val="100000"/>
              </a:lnSpc>
              <a:spcBef>
                <a:spcPts val="0"/>
              </a:spcBef>
              <a:spcAft>
                <a:spcPts val="0"/>
              </a:spcAft>
              <a:buClr>
                <a:schemeClr val="dk1"/>
              </a:buClr>
              <a:buSzPts val="1100"/>
              <a:buFont typeface="Arial"/>
              <a:buNone/>
            </a:pPr>
            <a:r>
              <a:rPr lang="en-US" sz="1100"/>
              <a:t>So, in this project, we wanted to explore sleep not from a medical point of view, but from a </a:t>
            </a:r>
            <a:r>
              <a:rPr b="1" lang="en-US" sz="1100"/>
              <a:t>lifestyle and behavioral perspective</a:t>
            </a:r>
            <a:r>
              <a:rPr lang="en-US" sz="1100"/>
              <a:t>.</a:t>
            </a:r>
            <a:endParaRPr sz="1100"/>
          </a:p>
          <a:p>
            <a:pPr indent="0" lvl="0" marL="0" rtl="0" algn="l">
              <a:lnSpc>
                <a:spcPct val="100000"/>
              </a:lnSpc>
              <a:spcBef>
                <a:spcPts val="0"/>
              </a:spcBef>
              <a:spcAft>
                <a:spcPts val="0"/>
              </a:spcAft>
              <a:buClr>
                <a:schemeClr val="dk1"/>
              </a:buClr>
              <a:buSzPts val="1100"/>
              <a:buFont typeface="Arial"/>
              <a:buNone/>
            </a:pPr>
            <a:r>
              <a:rPr lang="en-US" sz="1100"/>
              <a:t>our key question is: </a:t>
            </a:r>
            <a:r>
              <a:rPr i="1" lang="en-US" sz="1100"/>
              <a:t>How do our habits: like stress, work patterns, caffeine, screen time, and sleep duration affect our risk of developing sleep disorders?</a:t>
            </a:r>
            <a:endParaRPr i="1" sz="1100"/>
          </a:p>
          <a:p>
            <a:pPr indent="0" lvl="0" marL="0" rtl="0" algn="l">
              <a:lnSpc>
                <a:spcPct val="100000"/>
              </a:lnSpc>
              <a:spcBef>
                <a:spcPts val="0"/>
              </a:spcBef>
              <a:spcAft>
                <a:spcPts val="0"/>
              </a:spcAft>
              <a:buSzPts val="1400"/>
              <a:buNone/>
            </a:pPr>
            <a:r>
              <a:rPr lang="en-US" sz="1100"/>
              <a:t>To answer this, we used a dataset called ‘Sleep Health and Lifestyle’ and analyzed how different lifestyle variables influence sleep quality and disorder risk.”</a:t>
            </a:r>
            <a:endParaRPr/>
          </a:p>
        </p:txBody>
      </p:sp>
      <p:sp>
        <p:nvSpPr>
          <p:cNvPr id="204" name="Google Shape;2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400"/>
              <a:buNone/>
            </a:pPr>
            <a:r>
              <a:rPr lang="en-US" sz="1100"/>
              <a:t>Here I’m giving a quick overview of the dataset we used.</a:t>
            </a:r>
            <a:br>
              <a:rPr lang="en-US" sz="1100"/>
            </a:br>
            <a:r>
              <a:rPr lang="en-US" sz="1100"/>
              <a:t>It contains </a:t>
            </a:r>
            <a:r>
              <a:rPr b="1" lang="en-US" sz="1100"/>
              <a:t>374 rows and 13 columns</a:t>
            </a:r>
            <a:r>
              <a:rPr lang="en-US" sz="1100"/>
              <a:t>, which is a small but very structured dataset.</a:t>
            </a:r>
            <a:endParaRPr sz="1100"/>
          </a:p>
          <a:p>
            <a:pPr indent="-298450" lvl="0" marL="457200" rtl="0" algn="l">
              <a:lnSpc>
                <a:spcPct val="115000"/>
              </a:lnSpc>
              <a:spcBef>
                <a:spcPts val="1200"/>
              </a:spcBef>
              <a:spcAft>
                <a:spcPts val="0"/>
              </a:spcAft>
              <a:buClr>
                <a:schemeClr val="dk1"/>
              </a:buClr>
              <a:buSzPts val="1100"/>
              <a:buChar char="●"/>
            </a:pPr>
            <a:r>
              <a:rPr lang="en-US" sz="1100"/>
              <a:t>The variables are grouped into three main categories,</a:t>
            </a:r>
            <a:endParaRPr sz="1100"/>
          </a:p>
          <a:p>
            <a:pPr indent="-298450" lvl="0" marL="457200" rtl="0" algn="l">
              <a:lnSpc>
                <a:spcPct val="115000"/>
              </a:lnSpc>
              <a:spcBef>
                <a:spcPts val="0"/>
              </a:spcBef>
              <a:spcAft>
                <a:spcPts val="0"/>
              </a:spcAft>
              <a:buClr>
                <a:schemeClr val="dk1"/>
              </a:buClr>
              <a:buSzPts val="1100"/>
              <a:buChar char="●"/>
            </a:pPr>
            <a:r>
              <a:rPr b="1" lang="en-US" sz="1100"/>
              <a:t>First, demographic factors</a:t>
            </a:r>
            <a:r>
              <a:rPr lang="en-US" sz="1100"/>
              <a:t>, such as Age, BMI, and Occupation. These help us understand how sleep problems vary across different groups of people.</a:t>
            </a:r>
            <a:endParaRPr sz="1100"/>
          </a:p>
          <a:p>
            <a:pPr indent="-298450" lvl="0" marL="457200" rtl="0" algn="l">
              <a:lnSpc>
                <a:spcPct val="115000"/>
              </a:lnSpc>
              <a:spcBef>
                <a:spcPts val="0"/>
              </a:spcBef>
              <a:spcAft>
                <a:spcPts val="0"/>
              </a:spcAft>
              <a:buClr>
                <a:schemeClr val="dk1"/>
              </a:buClr>
              <a:buSzPts val="1100"/>
              <a:buChar char="●"/>
            </a:pPr>
            <a:r>
              <a:rPr b="1" lang="en-US" sz="1100"/>
              <a:t>Second, lifestyle behaviors</a:t>
            </a:r>
            <a:r>
              <a:rPr lang="en-US" sz="1100"/>
              <a:t>, including Sleep Duration, Stress Level and so on. These are daily habits that could directly influence sleep quality.</a:t>
            </a:r>
            <a:endParaRPr sz="1100"/>
          </a:p>
          <a:p>
            <a:pPr indent="-298450" lvl="0" marL="457200" rtl="0" algn="l">
              <a:lnSpc>
                <a:spcPct val="115000"/>
              </a:lnSpc>
              <a:spcBef>
                <a:spcPts val="0"/>
              </a:spcBef>
              <a:spcAft>
                <a:spcPts val="0"/>
              </a:spcAft>
              <a:buClr>
                <a:schemeClr val="dk1"/>
              </a:buClr>
              <a:buSzPts val="1100"/>
              <a:buChar char="●"/>
            </a:pPr>
            <a:r>
              <a:rPr b="1" lang="en-US" sz="1100"/>
              <a:t>Third, health-related indicators</a:t>
            </a:r>
            <a:r>
              <a:rPr lang="en-US" sz="1100"/>
              <a:t>, such as Blood Pressure and Sleep Disorder.</a:t>
            </a:r>
            <a:endParaRPr sz="1100"/>
          </a:p>
          <a:p>
            <a:pPr indent="-298450" lvl="0" marL="457200" rtl="0" algn="l">
              <a:lnSpc>
                <a:spcPct val="115000"/>
              </a:lnSpc>
              <a:spcBef>
                <a:spcPts val="0"/>
              </a:spcBef>
              <a:spcAft>
                <a:spcPts val="0"/>
              </a:spcAft>
              <a:buClr>
                <a:schemeClr val="dk1"/>
              </a:buClr>
              <a:buSzPts val="1100"/>
              <a:buChar char="●"/>
            </a:pPr>
            <a:r>
              <a:rPr lang="en-US" sz="1100"/>
              <a:t>The </a:t>
            </a:r>
            <a:r>
              <a:rPr b="1" lang="en-US" sz="1100"/>
              <a:t>target variable</a:t>
            </a:r>
            <a:r>
              <a:rPr lang="en-US" sz="1100"/>
              <a:t> is whether the person has a sleep disorder, which includes insomnia, sleep apnea, or no disorder.</a:t>
            </a:r>
            <a:endParaRPr sz="1100"/>
          </a:p>
          <a:p>
            <a:pPr indent="0" lvl="0" marL="0" rtl="0" algn="l">
              <a:lnSpc>
                <a:spcPct val="115000"/>
              </a:lnSpc>
              <a:spcBef>
                <a:spcPts val="1200"/>
              </a:spcBef>
              <a:spcAft>
                <a:spcPts val="1200"/>
              </a:spcAft>
              <a:buSzPts val="1400"/>
              <a:buNone/>
            </a:pPr>
            <a:r>
              <a:rPr lang="en-US" sz="1100"/>
              <a:t>So overall, this dataset gives a good balance of personal, behavioral, and health data, allowing us to explore how lifestyle factors are linked to sleep disorders across different demographics.</a:t>
            </a:r>
            <a:endParaRPr sz="1100"/>
          </a:p>
        </p:txBody>
      </p:sp>
      <p:sp>
        <p:nvSpPr>
          <p:cNvPr id="249" name="Google Shape;2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chart shows the relationship between stress level and sleep disorders.</a:t>
            </a:r>
            <a:br>
              <a:rPr lang="en-US"/>
            </a:br>
            <a:r>
              <a:rPr lang="en-US"/>
              <a:t>As stress increases, the number of individuals with insomnia and sleep apnea rises sharply.</a:t>
            </a:r>
            <a:br>
              <a:rPr lang="en-US"/>
            </a:br>
            <a:r>
              <a:rPr lang="en-US"/>
              <a:t>This indicates that psychological stress is a major contributor to sleep-related health issues.</a:t>
            </a:r>
            <a:endParaRPr/>
          </a:p>
        </p:txBody>
      </p:sp>
      <p:sp>
        <p:nvSpPr>
          <p:cNvPr id="344" name="Google Shape;3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We group screen-time into 4 quartiles and compare sleep quality across them. This helps identify whether heavier digital consumption is linked with poorer sleep quality.</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Across the four screen-time quartiles, the median quality of sleep remains fairly similar. The interquartile ranges overlap heavily, showing that higher screen time does not drastically reduce sleep quality in this sample. However, the lowest-screen-time group displays slightly higher upper-range values, hinting that people with less screen exposure may experience more consistently high sleep quality.</a:t>
            </a:r>
            <a:endParaRPr/>
          </a:p>
        </p:txBody>
      </p:sp>
      <p:sp>
        <p:nvSpPr>
          <p:cNvPr id="388" name="Google Shape;3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This scatterplot shows whether people who consume more caffeine tend to sleep less. We use a regression line to highlight the overall trend. This explores a new behavioral angle that was not part of the original lab. The scatterplot shows that caffeine intake does not have a strong or consistent relationship with sleep duration. Although the trend line slopes slightly upward, the effect is very mild and the data points are widely spread. This suggests that caffeine intake alone is not a strong predictor of how long a person sleeps in this dataset. Most people, regardless of caffeine levels, cluster around 6.5 to 7.5 hours of sleep.</a:t>
            </a:r>
            <a:endParaRPr/>
          </a:p>
        </p:txBody>
      </p:sp>
      <p:sp>
        <p:nvSpPr>
          <p:cNvPr id="432" name="Google Shape;43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explore which health and lifestyle variables are associated with sleep quality, we analyzed the correlation matrix of all numeric features.</a:t>
            </a:r>
            <a:br>
              <a:rPr lang="en-US"/>
            </a:br>
            <a:r>
              <a:rPr lang="en-US"/>
              <a:t>We observed that sleep duration is strongly influenced by stress level and physical activity. Additionally, BMI and age show a positive correlation with the likelihood of sleep disorders, indicating that physiological conditions also play a significant role.</a:t>
            </a:r>
            <a:endParaRPr/>
          </a:p>
        </p:txBody>
      </p:sp>
      <p:sp>
        <p:nvSpPr>
          <p:cNvPr id="476" name="Google Shape;4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boxplot shows how sleep duration varies across different occupations.</a:t>
            </a:r>
            <a:br>
              <a:rPr lang="en-US"/>
            </a:br>
            <a:r>
              <a:rPr lang="en-US"/>
              <a:t>We observe that individuals working in healthcare and corporate jobs tend to sleep less and have more irregular sleep patterns, while students and freelancers have longer and more stable sleep durations.</a:t>
            </a:r>
            <a:br>
              <a:rPr lang="en-US"/>
            </a:br>
            <a:r>
              <a:rPr lang="en-US"/>
              <a:t>This suggests that occupation and job-related stress might be important factors affecting sleep quality.</a:t>
            </a:r>
            <a:endParaRPr/>
          </a:p>
          <a:p>
            <a:pPr indent="0" lvl="0" marL="0" rtl="0" algn="l">
              <a:lnSpc>
                <a:spcPct val="100000"/>
              </a:lnSpc>
              <a:spcBef>
                <a:spcPts val="0"/>
              </a:spcBef>
              <a:spcAft>
                <a:spcPts val="0"/>
              </a:spcAft>
              <a:buSzPts val="1400"/>
              <a:buNone/>
            </a:pPr>
            <a:r>
              <a:rPr b="1" lang="en-US">
                <a:solidFill>
                  <a:srgbClr val="FF0000"/>
                </a:solidFill>
              </a:rPr>
              <a:t>This leads to our next question: “Can we group people into distinct lifestyle risk profiles?”</a:t>
            </a:r>
            <a:endParaRPr/>
          </a:p>
        </p:txBody>
      </p:sp>
      <p:sp>
        <p:nvSpPr>
          <p:cNvPr id="520" name="Google Shape;5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We construct a Circadian Risk Score, a composite metric that reflects how lifestyle factors may disrupt circadian rhythms. The histogram shows how these risks are distributed among participants.</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The circadian risk score appears to follow a roughly normal distribution centered around moderate risk levels. Most individuals fall between scores of 4.5 and 6.0, suggesting that lifestyle stressors such as caffeine, screen exposure, and work hours affect a large portion of participants at similar levels. Only a small number of people fall into very low or very high risk categories.</a:t>
            </a:r>
            <a:endParaRPr/>
          </a:p>
        </p:txBody>
      </p:sp>
      <p:sp>
        <p:nvSpPr>
          <p:cNvPr id="613" name="Google Shape;6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This plot compares circadian risk across groups: No disorder，Sleep apnea，Insomnia</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This allows us to see whether certain disorders tend to appear in people with higher lifestyle-related circadian risks.</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Both sleep disorder groups show similar circadian risk scores, with overlapping distributions. Insomnia appears slightly more concentrated at the higher end of the risk range, while sleep apnea shows more variation and a few lower-risk individuals. Overall, this suggests that lifestyle-based circadian risk factors may influence insomnia slightly more, but do not strongly separate the two disorder groups.</a:t>
            </a:r>
            <a:endParaRPr/>
          </a:p>
        </p:txBody>
      </p:sp>
      <p:sp>
        <p:nvSpPr>
          <p:cNvPr id="658" name="Google Shape;65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2" name="Google Shape;7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Here we identify behavior-based clusters, for example:</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Cluster 0: high stress + high caffeine + low sleep</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Cluster 1: moderate lifestyle habits</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Cluster 2: low risk, healthy routine</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This helps reveal different behavioral profiles in the dataset.</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The clustering reveals three distinct lifestyle behavior groups. One cluster is associated with higher screen time and higher caffeine intake, showing a concentrated group of high-stimulation individuals. Another cluster consists mostly of people with moderate habits, and the final cluster contains individuals with lower screen exposure and lower caffeine use. This separation shows that participants tend to form clear lifestyle patterns that can be grouped meaningfully.</a:t>
            </a:r>
            <a:endParaRPr/>
          </a:p>
        </p:txBody>
      </p:sp>
      <p:sp>
        <p:nvSpPr>
          <p:cNvPr id="752" name="Google Shape;7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We examine which professions fall into high-stress or high-risk behavioral clusters. This uncovers trends like whether engineers, doctors, or salespeople tend to belong to riskier lifestyle groups.</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Occupations differ noticeably in how they fall into lifestyle clusters. Roles like doctors and nurses show heavier representation in the higher-risk cluster, likely reflecting demanding schedules and stress. Engineers and teachers appear mostly in moderate-risk clusters, while lawyers and salespeople show a wide spread across all three clusters. This indicates that lifestyle patterns may be partly shaped by the nature of each job and its daily demands.</a:t>
            </a:r>
            <a:endParaRPr/>
          </a:p>
        </p:txBody>
      </p:sp>
      <p:sp>
        <p:nvSpPr>
          <p:cNvPr id="797" name="Google Shape;79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We examine which professions fall into high-stress or high-risk behavioral clusters. This uncovers trends like whether engineers, doctors, or salespeople tend to belong to riskier lifestyle groups.</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Occupations differ noticeably in how they fall into lifestyle clusters. Roles like doctors and nurses show heavier representation in the higher-risk cluster, likely reflecting demanding schedules and stress. Engineers and teachers appear mostly in moderate-risk clusters, while lawyers and salespeople show a wide spread across all three clusters. This indicates that lifestyle patterns may be partly shaped by the nature of each job and its daily demands.</a:t>
            </a:r>
            <a:endParaRPr/>
          </a:p>
        </p:txBody>
      </p:sp>
      <p:sp>
        <p:nvSpPr>
          <p:cNvPr id="841" name="Google Shape;84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 name="Google Shape;93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compared six machine learning models using accuracy as the evaluation metric.</a:t>
            </a:r>
            <a:endParaRPr/>
          </a:p>
        </p:txBody>
      </p:sp>
      <p:sp>
        <p:nvSpPr>
          <p:cNvPr id="933" name="Google Shape;93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As seen in the chart above, BMI Category is the strongest indicator in predicting whether a person has a sleeping disorder. The other runner ups were blood pressure, occupation, and age. What suprises me about this chart is how sleep duration doesn't affect as much as I thought it will, since it is one of the few categories that seems directly related to sleep.</a:t>
            </a:r>
            <a:endParaRPr/>
          </a:p>
        </p:txBody>
      </p:sp>
      <p:sp>
        <p:nvSpPr>
          <p:cNvPr id="978" name="Google Shape;97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"To quickly recap our key findings, we identified several crucial aspects about sleep disorders and their relationship with factors like stress, sleep duration, caffeine consumption, and digital exposure. Our </a:t>
            </a:r>
            <a:r>
              <a:rPr b="1" lang="en-US" sz="1100"/>
              <a:t>Circadian Risk Score</a:t>
            </a:r>
            <a:r>
              <a:rPr lang="en-US" sz="1100"/>
              <a:t> was shown to be effective in capturing lifestyle-based risk and helping us group individuals into high, moderate, and low-risk profiles.</a:t>
            </a:r>
            <a:endParaRPr sz="1100"/>
          </a:p>
          <a:p>
            <a:pPr indent="0" lvl="0" marL="0" rtl="0" algn="l">
              <a:lnSpc>
                <a:spcPct val="115000"/>
              </a:lnSpc>
              <a:spcBef>
                <a:spcPts val="1200"/>
              </a:spcBef>
              <a:spcAft>
                <a:spcPts val="0"/>
              </a:spcAft>
              <a:buClr>
                <a:schemeClr val="dk1"/>
              </a:buClr>
              <a:buSzPts val="1100"/>
              <a:buFont typeface="Arial"/>
              <a:buNone/>
            </a:pPr>
            <a:r>
              <a:rPr lang="en-US" sz="1100"/>
              <a:t>From a business perspective, these insights can drive innovations in </a:t>
            </a:r>
            <a:r>
              <a:rPr b="1" lang="en-US" sz="1100"/>
              <a:t>personalized health apps</a:t>
            </a:r>
            <a:r>
              <a:rPr lang="en-US" sz="1100"/>
              <a:t>, support the development of </a:t>
            </a:r>
            <a:r>
              <a:rPr b="1" lang="en-US" sz="1100"/>
              <a:t>occupational wellness programs</a:t>
            </a:r>
            <a:r>
              <a:rPr lang="en-US" sz="1100"/>
              <a:t>, and even inform </a:t>
            </a:r>
            <a:r>
              <a:rPr b="1" lang="en-US" sz="1100"/>
              <a:t>risk scoring for insurance and employer health benefits</a:t>
            </a:r>
            <a:r>
              <a:rPr lang="en-US" sz="1100"/>
              <a:t>. Additionally, we see an opportunity for </a:t>
            </a:r>
            <a:r>
              <a:rPr b="1" lang="en-US" sz="1100"/>
              <a:t>early detection and prevention</a:t>
            </a:r>
            <a:r>
              <a:rPr lang="en-US" sz="1100"/>
              <a:t> of sleep-related disorders, which is a win-win for both individuals and businesses."</a:t>
            </a:r>
            <a:endParaRPr sz="1100"/>
          </a:p>
          <a:p>
            <a:pPr indent="0" lvl="0" marL="0" rtl="0" algn="l">
              <a:lnSpc>
                <a:spcPct val="115000"/>
              </a:lnSpc>
              <a:spcBef>
                <a:spcPts val="1200"/>
              </a:spcBef>
              <a:spcAft>
                <a:spcPts val="1200"/>
              </a:spcAft>
              <a:buSzPts val="1400"/>
              <a:buNone/>
            </a:pPr>
            <a:r>
              <a:t/>
            </a:r>
            <a:endParaRPr sz="1100"/>
          </a:p>
        </p:txBody>
      </p:sp>
      <p:sp>
        <p:nvSpPr>
          <p:cNvPr id="1070" name="Google Shape;107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"Now, let’s look at the key recommendations to put these insights into action:</a:t>
            </a:r>
            <a:endParaRPr sz="1100"/>
          </a:p>
          <a:p>
            <a:pPr indent="-298450" lvl="0" marL="457200" rtl="0" algn="l">
              <a:lnSpc>
                <a:spcPct val="115000"/>
              </a:lnSpc>
              <a:spcBef>
                <a:spcPts val="1200"/>
              </a:spcBef>
              <a:spcAft>
                <a:spcPts val="0"/>
              </a:spcAft>
              <a:buClr>
                <a:schemeClr val="dk1"/>
              </a:buClr>
              <a:buSzPts val="1100"/>
              <a:buAutoNum type="arabicPeriod"/>
            </a:pPr>
            <a:r>
              <a:rPr b="1" lang="en-US" sz="1100"/>
              <a:t>Targeted Sleep Health Programs:</a:t>
            </a:r>
            <a:br>
              <a:rPr b="1" lang="en-US" sz="1100"/>
            </a:br>
            <a:r>
              <a:rPr lang="en-US" sz="1100"/>
              <a:t> We should </a:t>
            </a:r>
            <a:r>
              <a:rPr b="1" lang="en-US" sz="1100"/>
              <a:t>design tailored interventions</a:t>
            </a:r>
            <a:r>
              <a:rPr lang="en-US" sz="1100"/>
              <a:t> targeting specific behavioral clusters, such as </a:t>
            </a:r>
            <a:r>
              <a:rPr b="1" lang="en-US" sz="1100"/>
              <a:t>stress reduction, sleep hygiene, and digital detox</a:t>
            </a:r>
            <a:r>
              <a:rPr lang="en-US" sz="1100"/>
              <a:t>. By addressing these areas, we can significantly improve the quality of sleep for individuals.</a:t>
            </a:r>
            <a:br>
              <a:rPr lang="en-US" sz="1100"/>
            </a:br>
            <a:endParaRPr sz="1100"/>
          </a:p>
          <a:p>
            <a:pPr indent="-298450" lvl="0" marL="457200" rtl="0" algn="l">
              <a:lnSpc>
                <a:spcPct val="115000"/>
              </a:lnSpc>
              <a:spcBef>
                <a:spcPts val="0"/>
              </a:spcBef>
              <a:spcAft>
                <a:spcPts val="0"/>
              </a:spcAft>
              <a:buClr>
                <a:schemeClr val="dk1"/>
              </a:buClr>
              <a:buSzPts val="1100"/>
              <a:buAutoNum type="arabicPeriod"/>
            </a:pPr>
            <a:r>
              <a:rPr b="1" lang="en-US" sz="1100"/>
              <a:t>Integrate Risk Score into Digital Health Platforms:</a:t>
            </a:r>
            <a:br>
              <a:rPr b="1" lang="en-US" sz="1100"/>
            </a:br>
            <a:r>
              <a:rPr lang="en-US" sz="1100"/>
              <a:t> The </a:t>
            </a:r>
            <a:r>
              <a:rPr b="1" lang="en-US" sz="1100"/>
              <a:t>Circadian Risk Score</a:t>
            </a:r>
            <a:r>
              <a:rPr lang="en-US" sz="1100"/>
              <a:t> can be integrated into </a:t>
            </a:r>
            <a:r>
              <a:rPr b="1" lang="en-US" sz="1100"/>
              <a:t>digital health platforms</a:t>
            </a:r>
            <a:r>
              <a:rPr lang="en-US" sz="1100"/>
              <a:t> to provide personalized monitoring. This will allow for the </a:t>
            </a:r>
            <a:r>
              <a:rPr b="1" lang="en-US" sz="1100"/>
              <a:t>early detection of sleep disorder risks</a:t>
            </a:r>
            <a:r>
              <a:rPr lang="en-US" sz="1100"/>
              <a:t>, enabling users to take proactive measures for better health outcomes.</a:t>
            </a:r>
            <a:br>
              <a:rPr lang="en-US" sz="1100"/>
            </a:br>
            <a:endParaRPr sz="1100"/>
          </a:p>
          <a:p>
            <a:pPr indent="-298450" lvl="0" marL="457200" rtl="0" algn="l">
              <a:lnSpc>
                <a:spcPct val="115000"/>
              </a:lnSpc>
              <a:spcBef>
                <a:spcPts val="0"/>
              </a:spcBef>
              <a:spcAft>
                <a:spcPts val="0"/>
              </a:spcAft>
              <a:buClr>
                <a:schemeClr val="dk1"/>
              </a:buClr>
              <a:buSzPts val="1100"/>
              <a:buAutoNum type="arabicPeriod"/>
            </a:pPr>
            <a:r>
              <a:rPr b="1" lang="en-US" sz="1100"/>
              <a:t>Occupation-Specific Wellness Solutions:</a:t>
            </a:r>
            <a:br>
              <a:rPr b="1" lang="en-US" sz="1100"/>
            </a:br>
            <a:r>
              <a:rPr lang="en-US" sz="1100"/>
              <a:t> Based on our findings, it’s essential to develop </a:t>
            </a:r>
            <a:r>
              <a:rPr b="1" lang="en-US" sz="1100"/>
              <a:t>customized sleep support programs</a:t>
            </a:r>
            <a:r>
              <a:rPr lang="en-US" sz="1100"/>
              <a:t> for high-risk occupations, such as those in </a:t>
            </a:r>
            <a:r>
              <a:rPr b="1" lang="en-US" sz="1100"/>
              <a:t>healthcare, law</a:t>
            </a:r>
            <a:r>
              <a:rPr lang="en-US" sz="1100"/>
              <a:t>, and </a:t>
            </a:r>
            <a:r>
              <a:rPr b="1" lang="en-US" sz="1100"/>
              <a:t>corporate sectors</a:t>
            </a:r>
            <a:r>
              <a:rPr lang="en-US" sz="1100"/>
              <a:t>. These professions are more prone to sleep-related issues, and tailored programs can help mitigate these risks.</a:t>
            </a:r>
            <a:br>
              <a:rPr lang="en-US" sz="1100"/>
            </a:br>
            <a:endParaRPr sz="1100"/>
          </a:p>
          <a:p>
            <a:pPr indent="-298450" lvl="0" marL="457200" rtl="0" algn="l">
              <a:lnSpc>
                <a:spcPct val="115000"/>
              </a:lnSpc>
              <a:spcBef>
                <a:spcPts val="0"/>
              </a:spcBef>
              <a:spcAft>
                <a:spcPts val="0"/>
              </a:spcAft>
              <a:buClr>
                <a:schemeClr val="dk1"/>
              </a:buClr>
              <a:buSzPts val="1100"/>
              <a:buAutoNum type="arabicPeriod"/>
            </a:pPr>
            <a:r>
              <a:rPr b="1" lang="en-US" sz="1100"/>
              <a:t>Corporate Partnerships &amp; Preventive Health Services:</a:t>
            </a:r>
            <a:br>
              <a:rPr b="1" lang="en-US" sz="1100"/>
            </a:br>
            <a:r>
              <a:rPr lang="en-US" sz="1100"/>
              <a:t> Finally, we recommend </a:t>
            </a:r>
            <a:r>
              <a:rPr b="1" lang="en-US" sz="1100"/>
              <a:t>collaborating with employers, insurance providers, and hospitals</a:t>
            </a:r>
            <a:r>
              <a:rPr lang="en-US" sz="1100"/>
              <a:t> to deliver comprehensive sleep and wellness solutions. This partnership can ensure that employees have access to resources that promote their well-being, ultimately leading to better productivity and overall health."</a:t>
            </a:r>
            <a:br>
              <a:rPr lang="en-US" sz="1100"/>
            </a:br>
            <a:endParaRPr sz="1100"/>
          </a:p>
          <a:p>
            <a:pPr indent="0" lvl="0" marL="457200" rtl="0" algn="l">
              <a:lnSpc>
                <a:spcPct val="115000"/>
              </a:lnSpc>
              <a:spcBef>
                <a:spcPts val="1200"/>
              </a:spcBef>
              <a:spcAft>
                <a:spcPts val="0"/>
              </a:spcAft>
              <a:buSzPts val="1400"/>
              <a:buNone/>
            </a:pPr>
            <a:r>
              <a:rPr lang="en-US" sz="1100"/>
              <a:t>"By implementing these strategies, we can tackle sleep disorders effectively and create a healthier, more productive workforce. Thank you for your attention, and I’m happy to take any questions you may have."</a:t>
            </a:r>
            <a:endParaRPr sz="1100"/>
          </a:p>
          <a:p>
            <a:pPr indent="0" lvl="0" marL="0" rtl="0" algn="l">
              <a:lnSpc>
                <a:spcPct val="115000"/>
              </a:lnSpc>
              <a:spcBef>
                <a:spcPts val="1200"/>
              </a:spcBef>
              <a:spcAft>
                <a:spcPts val="1200"/>
              </a:spcAft>
              <a:buSzPts val="1400"/>
              <a:buNone/>
            </a:pPr>
            <a:r>
              <a:t/>
            </a:r>
            <a:endParaRPr sz="1100"/>
          </a:p>
        </p:txBody>
      </p:sp>
      <p:sp>
        <p:nvSpPr>
          <p:cNvPr id="1118" name="Google Shape;11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7" name="Google Shape;116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hangye/"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5" name="Shape 15"/>
        <p:cNvGrpSpPr/>
        <p:nvPr/>
      </p:nvGrpSpPr>
      <p:grpSpPr>
        <a:xfrm>
          <a:off x="0" y="0"/>
          <a:ext cx="0" cy="0"/>
          <a:chOff x="0" y="0"/>
          <a:chExt cx="0" cy="0"/>
        </a:xfrm>
      </p:grpSpPr>
      <p:sp>
        <p:nvSpPr>
          <p:cNvPr id="16" name="Google Shape;1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21" name="Shape 21"/>
        <p:cNvGrpSpPr/>
        <p:nvPr/>
      </p:nvGrpSpPr>
      <p:grpSpPr>
        <a:xfrm>
          <a:off x="0" y="0"/>
          <a:ext cx="0" cy="0"/>
          <a:chOff x="0" y="0"/>
          <a:chExt cx="0" cy="0"/>
        </a:xfrm>
      </p:grpSpPr>
      <p:sp>
        <p:nvSpPr>
          <p:cNvPr id="22" name="Google Shape;22;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4" name="Shape 54"/>
        <p:cNvGrpSpPr/>
        <p:nvPr/>
      </p:nvGrpSpPr>
      <p:grpSpPr>
        <a:xfrm>
          <a:off x="0" y="0"/>
          <a:ext cx="0" cy="0"/>
          <a:chOff x="0" y="0"/>
          <a:chExt cx="0" cy="0"/>
        </a:xfrm>
      </p:grpSpPr>
      <p:sp>
        <p:nvSpPr>
          <p:cNvPr id="55" name="Google Shape;5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p:nvPr>
            <p:ph idx="2" type="pic"/>
          </p:nvPr>
        </p:nvSpPr>
        <p:spPr>
          <a:xfrm>
            <a:off x="5183188" y="987425"/>
            <a:ext cx="6172200" cy="4873625"/>
          </a:xfrm>
          <a:prstGeom prst="rect">
            <a:avLst/>
          </a:prstGeom>
          <a:noFill/>
          <a:ln>
            <a:noFill/>
          </a:ln>
        </p:spPr>
      </p:sp>
      <p:sp>
        <p:nvSpPr>
          <p:cNvPr id="68" name="Google Shape;68;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竖排标题与文本">
  <p:cSld name="1_竖排标题与文本">
    <p:spTree>
      <p:nvGrpSpPr>
        <p:cNvPr id="84" name="Shape 84"/>
        <p:cNvGrpSpPr/>
        <p:nvPr/>
      </p:nvGrpSpPr>
      <p:grpSpPr>
        <a:xfrm>
          <a:off x="0" y="0"/>
          <a:ext cx="0" cy="0"/>
          <a:chOff x="0" y="0"/>
          <a:chExt cx="0" cy="0"/>
        </a:xfrm>
      </p:grpSpPr>
      <p:sp>
        <p:nvSpPr>
          <p:cNvPr id="85" name="Google Shape;85;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0" name="Google Shape;90;p37"/>
          <p:cNvSpPr txBox="1"/>
          <p:nvPr/>
        </p:nvSpPr>
        <p:spPr>
          <a:xfrm>
            <a:off x="11651940" y="0"/>
            <a:ext cx="540060" cy="11843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00"/>
              <a:buFont typeface="Arial"/>
              <a:buNone/>
            </a:pPr>
            <a:r>
              <a:rPr b="0" i="0" lang="en-US" sz="100" u="sng" cap="none" strike="noStrike">
                <a:solidFill>
                  <a:schemeClr val="dk1"/>
                </a:solidFill>
                <a:latin typeface="Microsoft Yahei"/>
                <a:ea typeface="Microsoft Yahei"/>
                <a:cs typeface="Microsoft Yahei"/>
                <a:sym typeface="Microsoft Yahei"/>
                <a:hlinkClick r:id="rId2">
                  <a:extLst>
                    <a:ext uri="{A12FA001-AC4F-418D-AE19-62706E023703}">
                      <ahyp:hlinkClr val="tx"/>
                    </a:ext>
                  </a:extLst>
                </a:hlinkClick>
              </a:rPr>
              <a:t>行业PPT模板</a:t>
            </a:r>
            <a:r>
              <a:rPr b="0" i="0" lang="en-US" sz="100" u="none" cap="none" strike="noStrike">
                <a:solidFill>
                  <a:schemeClr val="dk1"/>
                </a:solidFill>
                <a:latin typeface="Microsoft Yahei"/>
                <a:ea typeface="Microsoft Yahei"/>
                <a:cs typeface="Microsoft Yahei"/>
                <a:sym typeface="Microsoft Yahei"/>
              </a:rPr>
              <a:t>http://www.1ppt.com/hangye/</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92" name="Shape 92"/>
        <p:cNvGrpSpPr/>
        <p:nvPr/>
      </p:nvGrpSpPr>
      <p:grpSpPr>
        <a:xfrm>
          <a:off x="0" y="0"/>
          <a:ext cx="0" cy="0"/>
          <a:chOff x="0" y="0"/>
          <a:chExt cx="0" cy="0"/>
        </a:xfrm>
      </p:grpSpPr>
      <p:sp>
        <p:nvSpPr>
          <p:cNvPr id="93" name="Google Shape;93;p39"/>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4" name="Google Shape;94;p39"/>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5" name="Google Shape;95;p39"/>
          <p:cNvSpPr txBox="1"/>
          <p:nvPr>
            <p:ph idx="10" type="dt"/>
          </p:nvPr>
        </p:nvSpPr>
        <p:spPr>
          <a:xfrm>
            <a:off x="609600" y="6356351"/>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6" name="Google Shape;96;p39"/>
          <p:cNvSpPr txBox="1"/>
          <p:nvPr>
            <p:ph idx="11" type="ftr"/>
          </p:nvPr>
        </p:nvSpPr>
        <p:spPr>
          <a:xfrm>
            <a:off x="4165600" y="6356351"/>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7" name="Google Shape;97;p39"/>
          <p:cNvSpPr txBox="1"/>
          <p:nvPr>
            <p:ph idx="12" type="sldNum"/>
          </p:nvPr>
        </p:nvSpPr>
        <p:spPr>
          <a:xfrm>
            <a:off x="8737600" y="6356351"/>
            <a:ext cx="28448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垂直排列标题与文本" type="vertTitleAndTx">
  <p:cSld name="VERTICAL_TITLE_AND_VERTICAL_TEXT">
    <p:spTree>
      <p:nvGrpSpPr>
        <p:cNvPr id="98" name="Shape 98"/>
        <p:cNvGrpSpPr/>
        <p:nvPr/>
      </p:nvGrpSpPr>
      <p:grpSpPr>
        <a:xfrm>
          <a:off x="0" y="0"/>
          <a:ext cx="0" cy="0"/>
          <a:chOff x="0" y="0"/>
          <a:chExt cx="0" cy="0"/>
        </a:xfrm>
      </p:grpSpPr>
      <p:sp>
        <p:nvSpPr>
          <p:cNvPr id="99" name="Google Shape;99;p40"/>
          <p:cNvSpPr txBox="1"/>
          <p:nvPr>
            <p:ph type="title"/>
          </p:nvPr>
        </p:nvSpPr>
        <p:spPr>
          <a:xfrm rot="5400000">
            <a:off x="7285038" y="1828802"/>
            <a:ext cx="5851525" cy="2743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0" name="Google Shape;100;p4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1" name="Google Shape;101;p40"/>
          <p:cNvSpPr txBox="1"/>
          <p:nvPr>
            <p:ph idx="10" type="dt"/>
          </p:nvPr>
        </p:nvSpPr>
        <p:spPr>
          <a:xfrm>
            <a:off x="609600" y="6356351"/>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2" name="Google Shape;102;p40"/>
          <p:cNvSpPr txBox="1"/>
          <p:nvPr>
            <p:ph idx="11" type="ftr"/>
          </p:nvPr>
        </p:nvSpPr>
        <p:spPr>
          <a:xfrm>
            <a:off x="4165600" y="6356351"/>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3" name="Google Shape;103;p40"/>
          <p:cNvSpPr txBox="1"/>
          <p:nvPr>
            <p:ph idx="12" type="sldNum"/>
          </p:nvPr>
        </p:nvSpPr>
        <p:spPr>
          <a:xfrm>
            <a:off x="8737600" y="6356351"/>
            <a:ext cx="28448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自定义版式">
  <p:cSld name="自定义版式">
    <p:spTree>
      <p:nvGrpSpPr>
        <p:cNvPr id="104" name="Shape 10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kaggle.com/datasets/uom190346a/sleep-health-and-lifestyle-datas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
          <p:cNvPicPr preferRelativeResize="0"/>
          <p:nvPr/>
        </p:nvPicPr>
        <p:blipFill rotWithShape="1">
          <a:blip r:embed="rId3">
            <a:alphaModFix/>
          </a:blip>
          <a:srcRect b="0" l="0" r="0" t="0"/>
          <a:stretch/>
        </p:blipFill>
        <p:spPr>
          <a:xfrm>
            <a:off x="1524" y="0"/>
            <a:ext cx="12188951" cy="6858000"/>
          </a:xfrm>
          <a:prstGeom prst="rect">
            <a:avLst/>
          </a:prstGeom>
          <a:noFill/>
          <a:ln>
            <a:noFill/>
          </a:ln>
        </p:spPr>
      </p:pic>
      <p:sp>
        <p:nvSpPr>
          <p:cNvPr id="111" name="Google Shape;111;p1"/>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1"/>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3" name="Google Shape;113;p1"/>
          <p:cNvGrpSpPr/>
          <p:nvPr/>
        </p:nvGrpSpPr>
        <p:grpSpPr>
          <a:xfrm>
            <a:off x="178379" y="5425831"/>
            <a:ext cx="699837" cy="576543"/>
            <a:chOff x="342900" y="171450"/>
            <a:chExt cx="1028700" cy="847468"/>
          </a:xfrm>
        </p:grpSpPr>
        <p:grpSp>
          <p:nvGrpSpPr>
            <p:cNvPr id="114" name="Google Shape;114;p1"/>
            <p:cNvGrpSpPr/>
            <p:nvPr/>
          </p:nvGrpSpPr>
          <p:grpSpPr>
            <a:xfrm>
              <a:off x="342900" y="504825"/>
              <a:ext cx="1028700" cy="180718"/>
              <a:chOff x="342900" y="495300"/>
              <a:chExt cx="1409700" cy="247650"/>
            </a:xfrm>
          </p:grpSpPr>
          <p:sp>
            <p:nvSpPr>
              <p:cNvPr id="115" name="Google Shape;115;p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 name="Google Shape;116;p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 name="Google Shape;117;p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 name="Google Shape;118;p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9" name="Google Shape;119;p1"/>
            <p:cNvGrpSpPr/>
            <p:nvPr/>
          </p:nvGrpSpPr>
          <p:grpSpPr>
            <a:xfrm>
              <a:off x="342900" y="838200"/>
              <a:ext cx="1028700" cy="180718"/>
              <a:chOff x="342900" y="495300"/>
              <a:chExt cx="1409700" cy="247650"/>
            </a:xfrm>
          </p:grpSpPr>
          <p:sp>
            <p:nvSpPr>
              <p:cNvPr id="120" name="Google Shape;120;p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1" name="Google Shape;121;p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2" name="Google Shape;122;p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 name="Google Shape;123;p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24" name="Google Shape;124;p1"/>
            <p:cNvGrpSpPr/>
            <p:nvPr/>
          </p:nvGrpSpPr>
          <p:grpSpPr>
            <a:xfrm>
              <a:off x="342900" y="171450"/>
              <a:ext cx="1028700" cy="180718"/>
              <a:chOff x="342900" y="495300"/>
              <a:chExt cx="1409700" cy="247650"/>
            </a:xfrm>
          </p:grpSpPr>
          <p:sp>
            <p:nvSpPr>
              <p:cNvPr id="125" name="Google Shape;125;p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 name="Google Shape;126;p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 name="Google Shape;127;p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 name="Google Shape;128;p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129" name="Google Shape;129;p1"/>
          <p:cNvGrpSpPr/>
          <p:nvPr/>
        </p:nvGrpSpPr>
        <p:grpSpPr>
          <a:xfrm>
            <a:off x="10722184" y="257737"/>
            <a:ext cx="705853" cy="581499"/>
            <a:chOff x="342900" y="171450"/>
            <a:chExt cx="1028700" cy="847468"/>
          </a:xfrm>
        </p:grpSpPr>
        <p:grpSp>
          <p:nvGrpSpPr>
            <p:cNvPr id="130" name="Google Shape;130;p1"/>
            <p:cNvGrpSpPr/>
            <p:nvPr/>
          </p:nvGrpSpPr>
          <p:grpSpPr>
            <a:xfrm>
              <a:off x="342900" y="504825"/>
              <a:ext cx="1028700" cy="180718"/>
              <a:chOff x="342900" y="495300"/>
              <a:chExt cx="1409700" cy="247650"/>
            </a:xfrm>
          </p:grpSpPr>
          <p:sp>
            <p:nvSpPr>
              <p:cNvPr id="131" name="Google Shape;131;p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2" name="Google Shape;132;p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 name="Google Shape;133;p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 name="Google Shape;134;p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5" name="Google Shape;135;p1"/>
            <p:cNvGrpSpPr/>
            <p:nvPr/>
          </p:nvGrpSpPr>
          <p:grpSpPr>
            <a:xfrm>
              <a:off x="342900" y="838200"/>
              <a:ext cx="1028700" cy="180718"/>
              <a:chOff x="342900" y="495300"/>
              <a:chExt cx="1409700" cy="247650"/>
            </a:xfrm>
          </p:grpSpPr>
          <p:sp>
            <p:nvSpPr>
              <p:cNvPr id="136" name="Google Shape;136;p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7" name="Google Shape;137;p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8" name="Google Shape;138;p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9" name="Google Shape;139;p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40" name="Google Shape;140;p1"/>
            <p:cNvGrpSpPr/>
            <p:nvPr/>
          </p:nvGrpSpPr>
          <p:grpSpPr>
            <a:xfrm>
              <a:off x="342900" y="171450"/>
              <a:ext cx="1028700" cy="180718"/>
              <a:chOff x="342900" y="495300"/>
              <a:chExt cx="1409700" cy="247650"/>
            </a:xfrm>
          </p:grpSpPr>
          <p:sp>
            <p:nvSpPr>
              <p:cNvPr id="141" name="Google Shape;141;p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2" name="Google Shape;142;p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3" name="Google Shape;143;p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4" name="Google Shape;144;p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45" name="Google Shape;145;p1"/>
          <p:cNvSpPr/>
          <p:nvPr/>
        </p:nvSpPr>
        <p:spPr>
          <a:xfrm rot="-5400000">
            <a:off x="11305771" y="5859605"/>
            <a:ext cx="1281471" cy="172198"/>
          </a:xfrm>
          <a:custGeom>
            <a:rect b="b" l="l" r="r" t="t"/>
            <a:pathLst>
              <a:path extrusionOk="0" h="86" w="640">
                <a:moveTo>
                  <a:pt x="321" y="86"/>
                </a:moveTo>
                <a:lnTo>
                  <a:pt x="258" y="33"/>
                </a:lnTo>
                <a:lnTo>
                  <a:pt x="195" y="86"/>
                </a:lnTo>
                <a:lnTo>
                  <a:pt x="134" y="33"/>
                </a:lnTo>
                <a:lnTo>
                  <a:pt x="71" y="86"/>
                </a:lnTo>
                <a:lnTo>
                  <a:pt x="0" y="27"/>
                </a:lnTo>
                <a:lnTo>
                  <a:pt x="17" y="6"/>
                </a:lnTo>
                <a:lnTo>
                  <a:pt x="71" y="51"/>
                </a:lnTo>
                <a:lnTo>
                  <a:pt x="134" y="0"/>
                </a:lnTo>
                <a:lnTo>
                  <a:pt x="195" y="51"/>
                </a:lnTo>
                <a:lnTo>
                  <a:pt x="258" y="0"/>
                </a:lnTo>
                <a:lnTo>
                  <a:pt x="321" y="51"/>
                </a:lnTo>
                <a:lnTo>
                  <a:pt x="384" y="0"/>
                </a:lnTo>
                <a:lnTo>
                  <a:pt x="445" y="51"/>
                </a:lnTo>
                <a:lnTo>
                  <a:pt x="508" y="0"/>
                </a:lnTo>
                <a:lnTo>
                  <a:pt x="571" y="51"/>
                </a:lnTo>
                <a:lnTo>
                  <a:pt x="623" y="6"/>
                </a:lnTo>
                <a:lnTo>
                  <a:pt x="640" y="27"/>
                </a:lnTo>
                <a:lnTo>
                  <a:pt x="571" y="86"/>
                </a:lnTo>
                <a:lnTo>
                  <a:pt x="508" y="33"/>
                </a:lnTo>
                <a:lnTo>
                  <a:pt x="445" y="86"/>
                </a:lnTo>
                <a:lnTo>
                  <a:pt x="384" y="33"/>
                </a:lnTo>
                <a:lnTo>
                  <a:pt x="321" y="8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p1"/>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 name="Google Shape;147;p1"/>
          <p:cNvSpPr/>
          <p:nvPr/>
        </p:nvSpPr>
        <p:spPr>
          <a:xfrm rot="772410">
            <a:off x="520514" y="282079"/>
            <a:ext cx="534870" cy="680399"/>
          </a:xfrm>
          <a:prstGeom prst="triangle">
            <a:avLst>
              <a:gd fmla="val 50000" name="adj"/>
            </a:avLst>
          </a:prstGeom>
          <a:noFill/>
          <a:ln cap="flat" cmpd="sng" w="114300">
            <a:solidFill>
              <a:srgbClr val="2F53B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48" name="Google Shape;148;p1"/>
          <p:cNvSpPr/>
          <p:nvPr/>
        </p:nvSpPr>
        <p:spPr>
          <a:xfrm rot="-4741079">
            <a:off x="10790257" y="5602204"/>
            <a:ext cx="683420" cy="847057"/>
          </a:xfrm>
          <a:prstGeom prst="triangle">
            <a:avLst>
              <a:gd fmla="val 14177"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49" name="Google Shape;149;p1"/>
          <p:cNvSpPr txBox="1"/>
          <p:nvPr/>
        </p:nvSpPr>
        <p:spPr>
          <a:xfrm>
            <a:off x="4580646" y="4625964"/>
            <a:ext cx="3102428" cy="586058"/>
          </a:xfrm>
          <a:prstGeom prst="rect">
            <a:avLst/>
          </a:prstGeom>
          <a:solidFill>
            <a:srgbClr val="FFB717"/>
          </a:solidFill>
          <a:ln>
            <a:noFill/>
          </a:ln>
        </p:spPr>
        <p:txBody>
          <a:bodyPr anchorCtr="0" anchor="t" bIns="46350" lIns="89525" spcFirstLastPara="1" rIns="89525" wrap="square" tIns="46350">
            <a:spAutoFit/>
          </a:bodyPr>
          <a:lstStyle/>
          <a:p>
            <a:pPr indent="0" lvl="0" marL="0" marR="0" rtl="0" algn="ctr">
              <a:lnSpc>
                <a:spcPct val="10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BA815—Group 3 </a:t>
            </a:r>
            <a:endParaRPr b="0" i="0" sz="16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600"/>
              <a:buFont typeface="Arial"/>
              <a:buNone/>
            </a:pPr>
            <a:r>
              <a:rPr b="0" i="1" lang="en-US" sz="1600" u="none" cap="none" strike="noStrike">
                <a:solidFill>
                  <a:schemeClr val="lt1"/>
                </a:solidFill>
                <a:latin typeface="Arial"/>
                <a:ea typeface="Arial"/>
                <a:cs typeface="Arial"/>
                <a:sym typeface="Arial"/>
              </a:rPr>
              <a:t>Power of Three</a:t>
            </a:r>
            <a:endParaRPr b="0" i="1" sz="1600" u="none" cap="none" strike="noStrike">
              <a:solidFill>
                <a:schemeClr val="lt1"/>
              </a:solidFill>
              <a:latin typeface="Arial"/>
              <a:ea typeface="Arial"/>
              <a:cs typeface="Arial"/>
              <a:sym typeface="Arial"/>
            </a:endParaRPr>
          </a:p>
        </p:txBody>
      </p:sp>
      <p:sp>
        <p:nvSpPr>
          <p:cNvPr id="150" name="Google Shape;150;p1"/>
          <p:cNvSpPr txBox="1"/>
          <p:nvPr/>
        </p:nvSpPr>
        <p:spPr>
          <a:xfrm>
            <a:off x="2671712" y="5439678"/>
            <a:ext cx="7403334" cy="339837"/>
          </a:xfrm>
          <a:prstGeom prst="rect">
            <a:avLst/>
          </a:prstGeom>
          <a:solidFill>
            <a:srgbClr val="2F53BA"/>
          </a:solidFill>
          <a:ln>
            <a:noFill/>
          </a:ln>
        </p:spPr>
        <p:txBody>
          <a:bodyPr anchorCtr="0" anchor="t" bIns="46350" lIns="89525" spcFirstLastPara="1" rIns="89525" wrap="square" tIns="46350">
            <a:spAutoFit/>
          </a:bodyPr>
          <a:lstStyle/>
          <a:p>
            <a:pPr indent="0" lvl="0" marL="0" marR="0" rtl="0" algn="ctr">
              <a:lnSpc>
                <a:spcPct val="10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Team member: Allen Chiu, Akhil Nair, Tanmay Yenge, Xiaoxuan Zhu</a:t>
            </a:r>
            <a:endParaRPr b="0" i="0" sz="1600" u="none" cap="none" strike="noStrike">
              <a:solidFill>
                <a:schemeClr val="lt1"/>
              </a:solidFill>
              <a:latin typeface="Arial"/>
              <a:ea typeface="Arial"/>
              <a:cs typeface="Arial"/>
              <a:sym typeface="Arial"/>
            </a:endParaRPr>
          </a:p>
        </p:txBody>
      </p:sp>
      <p:sp>
        <p:nvSpPr>
          <p:cNvPr id="151" name="Google Shape;151;p1"/>
          <p:cNvSpPr/>
          <p:nvPr/>
        </p:nvSpPr>
        <p:spPr>
          <a:xfrm>
            <a:off x="1073929" y="2300891"/>
            <a:ext cx="9648255"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2F53BA"/>
                </a:solidFill>
                <a:latin typeface="Arial"/>
                <a:ea typeface="Arial"/>
                <a:cs typeface="Arial"/>
                <a:sym typeface="Arial"/>
              </a:rPr>
              <a:t>Sleep Health Analytics: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2F53BA"/>
                </a:solidFill>
                <a:latin typeface="Arial"/>
                <a:ea typeface="Arial"/>
                <a:cs typeface="Arial"/>
                <a:sym typeface="Arial"/>
              </a:rPr>
              <a:t>From Behavior Data to Risk Insights</a:t>
            </a:r>
            <a:endParaRPr b="1" i="0" sz="4000" u="none" cap="none" strike="noStrike">
              <a:solidFill>
                <a:srgbClr val="2F53BA"/>
              </a:solidFill>
              <a:latin typeface="Arial"/>
              <a:ea typeface="Arial"/>
              <a:cs typeface="Arial"/>
              <a:sym typeface="Arial"/>
            </a:endParaRPr>
          </a:p>
        </p:txBody>
      </p:sp>
      <p:sp>
        <p:nvSpPr>
          <p:cNvPr id="152" name="Google Shape;152;p1"/>
          <p:cNvSpPr txBox="1"/>
          <p:nvPr/>
        </p:nvSpPr>
        <p:spPr>
          <a:xfrm>
            <a:off x="5432263" y="5968031"/>
            <a:ext cx="1399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2025.12</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 name="Google Shape;158;p2"/>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9" name="Google Shape;159;p2"/>
          <p:cNvGrpSpPr/>
          <p:nvPr/>
        </p:nvGrpSpPr>
        <p:grpSpPr>
          <a:xfrm>
            <a:off x="178379" y="5425831"/>
            <a:ext cx="699837" cy="576543"/>
            <a:chOff x="342900" y="171450"/>
            <a:chExt cx="1028700" cy="847468"/>
          </a:xfrm>
        </p:grpSpPr>
        <p:grpSp>
          <p:nvGrpSpPr>
            <p:cNvPr id="160" name="Google Shape;160;p2"/>
            <p:cNvGrpSpPr/>
            <p:nvPr/>
          </p:nvGrpSpPr>
          <p:grpSpPr>
            <a:xfrm>
              <a:off x="342900" y="504825"/>
              <a:ext cx="1028700" cy="180718"/>
              <a:chOff x="342900" y="495300"/>
              <a:chExt cx="1409700" cy="247650"/>
            </a:xfrm>
          </p:grpSpPr>
          <p:sp>
            <p:nvSpPr>
              <p:cNvPr id="161" name="Google Shape;161;p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2" name="Google Shape;162;p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3" name="Google Shape;163;p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4" name="Google Shape;164;p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65" name="Google Shape;165;p2"/>
            <p:cNvGrpSpPr/>
            <p:nvPr/>
          </p:nvGrpSpPr>
          <p:grpSpPr>
            <a:xfrm>
              <a:off x="342900" y="838200"/>
              <a:ext cx="1028700" cy="180718"/>
              <a:chOff x="342900" y="495300"/>
              <a:chExt cx="1409700" cy="247650"/>
            </a:xfrm>
          </p:grpSpPr>
          <p:sp>
            <p:nvSpPr>
              <p:cNvPr id="166" name="Google Shape;166;p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7" name="Google Shape;167;p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8" name="Google Shape;168;p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9" name="Google Shape;169;p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70" name="Google Shape;170;p2"/>
            <p:cNvGrpSpPr/>
            <p:nvPr/>
          </p:nvGrpSpPr>
          <p:grpSpPr>
            <a:xfrm>
              <a:off x="342900" y="171450"/>
              <a:ext cx="1028700" cy="180718"/>
              <a:chOff x="342900" y="495300"/>
              <a:chExt cx="1409700" cy="247650"/>
            </a:xfrm>
          </p:grpSpPr>
          <p:sp>
            <p:nvSpPr>
              <p:cNvPr id="171" name="Google Shape;171;p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2" name="Google Shape;172;p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3" name="Google Shape;173;p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4" name="Google Shape;174;p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175" name="Google Shape;175;p2"/>
          <p:cNvGrpSpPr/>
          <p:nvPr/>
        </p:nvGrpSpPr>
        <p:grpSpPr>
          <a:xfrm>
            <a:off x="10722184" y="257737"/>
            <a:ext cx="705853" cy="581499"/>
            <a:chOff x="342900" y="171450"/>
            <a:chExt cx="1028700" cy="847468"/>
          </a:xfrm>
        </p:grpSpPr>
        <p:grpSp>
          <p:nvGrpSpPr>
            <p:cNvPr id="176" name="Google Shape;176;p2"/>
            <p:cNvGrpSpPr/>
            <p:nvPr/>
          </p:nvGrpSpPr>
          <p:grpSpPr>
            <a:xfrm>
              <a:off x="342900" y="504825"/>
              <a:ext cx="1028700" cy="180718"/>
              <a:chOff x="342900" y="495300"/>
              <a:chExt cx="1409700" cy="247650"/>
            </a:xfrm>
          </p:grpSpPr>
          <p:sp>
            <p:nvSpPr>
              <p:cNvPr id="177" name="Google Shape;177;p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8" name="Google Shape;178;p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9" name="Google Shape;179;p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0" name="Google Shape;180;p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81" name="Google Shape;181;p2"/>
            <p:cNvGrpSpPr/>
            <p:nvPr/>
          </p:nvGrpSpPr>
          <p:grpSpPr>
            <a:xfrm>
              <a:off x="342900" y="838200"/>
              <a:ext cx="1028700" cy="180718"/>
              <a:chOff x="342900" y="495300"/>
              <a:chExt cx="1409700" cy="247650"/>
            </a:xfrm>
          </p:grpSpPr>
          <p:sp>
            <p:nvSpPr>
              <p:cNvPr id="182" name="Google Shape;182;p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3" name="Google Shape;183;p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4" name="Google Shape;184;p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5" name="Google Shape;185;p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86" name="Google Shape;186;p2"/>
            <p:cNvGrpSpPr/>
            <p:nvPr/>
          </p:nvGrpSpPr>
          <p:grpSpPr>
            <a:xfrm>
              <a:off x="342900" y="171450"/>
              <a:ext cx="1028700" cy="180718"/>
              <a:chOff x="342900" y="495300"/>
              <a:chExt cx="1409700" cy="247650"/>
            </a:xfrm>
          </p:grpSpPr>
          <p:sp>
            <p:nvSpPr>
              <p:cNvPr id="187" name="Google Shape;187;p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8" name="Google Shape;188;p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9" name="Google Shape;189;p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0" name="Google Shape;190;p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91" name="Google Shape;191;p2"/>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2"/>
          <p:cNvSpPr txBox="1"/>
          <p:nvPr/>
        </p:nvSpPr>
        <p:spPr>
          <a:xfrm>
            <a:off x="1731028" y="2894521"/>
            <a:ext cx="928294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Project Background</a:t>
            </a:r>
            <a:endParaRPr b="1" i="0" sz="3600" u="none" cap="none" strike="noStrike">
              <a:solidFill>
                <a:schemeClr val="dk1"/>
              </a:solidFill>
              <a:latin typeface="Arial"/>
              <a:ea typeface="Arial"/>
              <a:cs typeface="Arial"/>
              <a:sym typeface="Arial"/>
            </a:endParaRPr>
          </a:p>
        </p:txBody>
      </p:sp>
      <p:sp>
        <p:nvSpPr>
          <p:cNvPr id="193" name="Google Shape;193;p2"/>
          <p:cNvSpPr/>
          <p:nvPr/>
        </p:nvSpPr>
        <p:spPr>
          <a:xfrm flipH="1" rot="-840000">
            <a:off x="4527550" y="1757201"/>
            <a:ext cx="721995" cy="721995"/>
          </a:xfrm>
          <a:prstGeom prst="ellipse">
            <a:avLst/>
          </a:prstGeom>
          <a:gradFill>
            <a:gsLst>
              <a:gs pos="0">
                <a:srgbClr val="EE8B11"/>
              </a:gs>
              <a:gs pos="9000">
                <a:srgbClr val="EE8B11"/>
              </a:gs>
              <a:gs pos="100000">
                <a:srgbClr val="FFFFFF">
                  <a:alpha val="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4" name="Google Shape;194;p2"/>
          <p:cNvSpPr txBox="1"/>
          <p:nvPr/>
        </p:nvSpPr>
        <p:spPr>
          <a:xfrm>
            <a:off x="1726415" y="1840975"/>
            <a:ext cx="3373424"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2F53BA"/>
              </a:buClr>
              <a:buSzPts val="4800"/>
              <a:buFont typeface="Arial"/>
              <a:buNone/>
            </a:pPr>
            <a:r>
              <a:rPr b="1" i="0" lang="en-US" sz="4800" u="none" cap="none" strike="noStrike">
                <a:solidFill>
                  <a:srgbClr val="2F53BA"/>
                </a:solidFill>
                <a:latin typeface="Arial"/>
                <a:ea typeface="Arial"/>
                <a:cs typeface="Arial"/>
                <a:sym typeface="Arial"/>
              </a:rPr>
              <a:t>PART ONE</a:t>
            </a:r>
            <a:endParaRPr b="0" i="0" sz="1400" u="none" cap="none" strike="noStrike">
              <a:solidFill>
                <a:srgbClr val="000000"/>
              </a:solidFill>
              <a:latin typeface="Arial"/>
              <a:ea typeface="Arial"/>
              <a:cs typeface="Arial"/>
              <a:sym typeface="Arial"/>
            </a:endParaRPr>
          </a:p>
        </p:txBody>
      </p:sp>
      <p:grpSp>
        <p:nvGrpSpPr>
          <p:cNvPr id="195" name="Google Shape;195;p2"/>
          <p:cNvGrpSpPr/>
          <p:nvPr/>
        </p:nvGrpSpPr>
        <p:grpSpPr>
          <a:xfrm>
            <a:off x="10159895" y="4066992"/>
            <a:ext cx="1032510" cy="133985"/>
            <a:chOff x="15823" y="7432"/>
            <a:chExt cx="1626" cy="211"/>
          </a:xfrm>
        </p:grpSpPr>
        <p:sp>
          <p:nvSpPr>
            <p:cNvPr id="196" name="Google Shape;196;p2"/>
            <p:cNvSpPr/>
            <p:nvPr/>
          </p:nvSpPr>
          <p:spPr>
            <a:xfrm flipH="1" rot="10800000">
              <a:off x="15823"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7" name="Google Shape;197;p2"/>
            <p:cNvSpPr/>
            <p:nvPr/>
          </p:nvSpPr>
          <p:spPr>
            <a:xfrm flipH="1" rot="10800000">
              <a:off x="16107"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8" name="Google Shape;198;p2"/>
            <p:cNvSpPr/>
            <p:nvPr/>
          </p:nvSpPr>
          <p:spPr>
            <a:xfrm flipH="1" rot="10800000">
              <a:off x="16388"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9" name="Google Shape;199;p2"/>
            <p:cNvSpPr/>
            <p:nvPr/>
          </p:nvSpPr>
          <p:spPr>
            <a:xfrm flipH="1" rot="10800000">
              <a:off x="16673"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0" name="Google Shape;200;p2"/>
            <p:cNvSpPr/>
            <p:nvPr/>
          </p:nvSpPr>
          <p:spPr>
            <a:xfrm flipH="1" rot="10800000">
              <a:off x="16957"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1" name="Google Shape;201;p2"/>
            <p:cNvSpPr/>
            <p:nvPr/>
          </p:nvSpPr>
          <p:spPr>
            <a:xfrm flipH="1" rot="10800000">
              <a:off x="17238"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 name="Google Shape;207;p3"/>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08" name="Google Shape;208;p3"/>
          <p:cNvGrpSpPr/>
          <p:nvPr/>
        </p:nvGrpSpPr>
        <p:grpSpPr>
          <a:xfrm>
            <a:off x="178379" y="5425831"/>
            <a:ext cx="699837" cy="576543"/>
            <a:chOff x="342900" y="171450"/>
            <a:chExt cx="1028700" cy="847468"/>
          </a:xfrm>
        </p:grpSpPr>
        <p:grpSp>
          <p:nvGrpSpPr>
            <p:cNvPr id="209" name="Google Shape;209;p3"/>
            <p:cNvGrpSpPr/>
            <p:nvPr/>
          </p:nvGrpSpPr>
          <p:grpSpPr>
            <a:xfrm>
              <a:off x="342900" y="504825"/>
              <a:ext cx="1028700" cy="180718"/>
              <a:chOff x="342900" y="495300"/>
              <a:chExt cx="1409700" cy="247650"/>
            </a:xfrm>
          </p:grpSpPr>
          <p:sp>
            <p:nvSpPr>
              <p:cNvPr id="210" name="Google Shape;210;p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1" name="Google Shape;211;p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2" name="Google Shape;212;p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3" name="Google Shape;213;p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14" name="Google Shape;214;p3"/>
            <p:cNvGrpSpPr/>
            <p:nvPr/>
          </p:nvGrpSpPr>
          <p:grpSpPr>
            <a:xfrm>
              <a:off x="342900" y="838200"/>
              <a:ext cx="1028700" cy="180718"/>
              <a:chOff x="342900" y="495300"/>
              <a:chExt cx="1409700" cy="247650"/>
            </a:xfrm>
          </p:grpSpPr>
          <p:sp>
            <p:nvSpPr>
              <p:cNvPr id="215" name="Google Shape;215;p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6" name="Google Shape;216;p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7" name="Google Shape;217;p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8" name="Google Shape;218;p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19" name="Google Shape;219;p3"/>
            <p:cNvGrpSpPr/>
            <p:nvPr/>
          </p:nvGrpSpPr>
          <p:grpSpPr>
            <a:xfrm>
              <a:off x="342900" y="171450"/>
              <a:ext cx="1028700" cy="180718"/>
              <a:chOff x="342900" y="495300"/>
              <a:chExt cx="1409700" cy="247650"/>
            </a:xfrm>
          </p:grpSpPr>
          <p:sp>
            <p:nvSpPr>
              <p:cNvPr id="220" name="Google Shape;220;p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1" name="Google Shape;221;p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2" name="Google Shape;222;p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3" name="Google Shape;223;p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224" name="Google Shape;224;p3"/>
          <p:cNvGrpSpPr/>
          <p:nvPr/>
        </p:nvGrpSpPr>
        <p:grpSpPr>
          <a:xfrm>
            <a:off x="10722184" y="257737"/>
            <a:ext cx="705853" cy="581499"/>
            <a:chOff x="342900" y="171450"/>
            <a:chExt cx="1028700" cy="847468"/>
          </a:xfrm>
        </p:grpSpPr>
        <p:grpSp>
          <p:nvGrpSpPr>
            <p:cNvPr id="225" name="Google Shape;225;p3"/>
            <p:cNvGrpSpPr/>
            <p:nvPr/>
          </p:nvGrpSpPr>
          <p:grpSpPr>
            <a:xfrm>
              <a:off x="342900" y="504825"/>
              <a:ext cx="1028700" cy="180718"/>
              <a:chOff x="342900" y="495300"/>
              <a:chExt cx="1409700" cy="247650"/>
            </a:xfrm>
          </p:grpSpPr>
          <p:sp>
            <p:nvSpPr>
              <p:cNvPr id="226" name="Google Shape;226;p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7" name="Google Shape;227;p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8" name="Google Shape;228;p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9" name="Google Shape;229;p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30" name="Google Shape;230;p3"/>
            <p:cNvGrpSpPr/>
            <p:nvPr/>
          </p:nvGrpSpPr>
          <p:grpSpPr>
            <a:xfrm>
              <a:off x="342900" y="838200"/>
              <a:ext cx="1028700" cy="180718"/>
              <a:chOff x="342900" y="495300"/>
              <a:chExt cx="1409700" cy="247650"/>
            </a:xfrm>
          </p:grpSpPr>
          <p:sp>
            <p:nvSpPr>
              <p:cNvPr id="231" name="Google Shape;231;p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2" name="Google Shape;232;p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3" name="Google Shape;233;p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4" name="Google Shape;234;p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35" name="Google Shape;235;p3"/>
            <p:cNvGrpSpPr/>
            <p:nvPr/>
          </p:nvGrpSpPr>
          <p:grpSpPr>
            <a:xfrm>
              <a:off x="342900" y="171450"/>
              <a:ext cx="1028700" cy="180718"/>
              <a:chOff x="342900" y="495300"/>
              <a:chExt cx="1409700" cy="247650"/>
            </a:xfrm>
          </p:grpSpPr>
          <p:sp>
            <p:nvSpPr>
              <p:cNvPr id="236" name="Google Shape;236;p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7" name="Google Shape;237;p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8" name="Google Shape;238;p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9" name="Google Shape;239;p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240" name="Google Shape;240;p3"/>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 name="Google Shape;241;p3"/>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42" name="Google Shape;242;p3"/>
          <p:cNvSpPr txBox="1"/>
          <p:nvPr/>
        </p:nvSpPr>
        <p:spPr>
          <a:xfrm>
            <a:off x="4319430" y="1162109"/>
            <a:ext cx="6914656" cy="1780744"/>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Sleep is a fundamental component of both physical and mental well-being. However, a significant number of individuals suffer from sleep disorders such as insomnia and sleep apnea, which negatively impact their long-term health, productivity, and quality of life. With growing access to lifestyle and health data, there is an opportunity to better understand what truly drives poor sleep quality.</a:t>
            </a:r>
            <a:endParaRPr b="0" i="0" sz="1500" u="none" cap="none" strike="noStrike">
              <a:solidFill>
                <a:srgbClr val="262626"/>
              </a:solidFill>
              <a:latin typeface="Arial"/>
              <a:ea typeface="Arial"/>
              <a:cs typeface="Arial"/>
              <a:sym typeface="Arial"/>
            </a:endParaRPr>
          </a:p>
        </p:txBody>
      </p:sp>
      <p:sp>
        <p:nvSpPr>
          <p:cNvPr id="243" name="Google Shape;243;p3"/>
          <p:cNvSpPr/>
          <p:nvPr/>
        </p:nvSpPr>
        <p:spPr>
          <a:xfrm>
            <a:off x="1626564" y="1826999"/>
            <a:ext cx="1715601" cy="444500"/>
          </a:xfrm>
          <a:prstGeom prst="rect">
            <a:avLst/>
          </a:prstGeom>
          <a:solidFill>
            <a:srgbClr val="2F53BA"/>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Introduction</a:t>
            </a:r>
            <a:endParaRPr b="0" i="0" sz="1800" u="none" cap="none" strike="noStrike">
              <a:solidFill>
                <a:schemeClr val="lt1"/>
              </a:solidFill>
              <a:latin typeface="Arial"/>
              <a:ea typeface="Arial"/>
              <a:cs typeface="Arial"/>
              <a:sym typeface="Arial"/>
            </a:endParaRPr>
          </a:p>
        </p:txBody>
      </p:sp>
      <p:sp>
        <p:nvSpPr>
          <p:cNvPr id="244" name="Google Shape;244;p3"/>
          <p:cNvSpPr txBox="1"/>
          <p:nvPr/>
        </p:nvSpPr>
        <p:spPr>
          <a:xfrm>
            <a:off x="1142919" y="3593444"/>
            <a:ext cx="6526756" cy="2126993"/>
          </a:xfrm>
          <a:prstGeom prst="rect">
            <a:avLst/>
          </a:prstGeom>
          <a:noFill/>
          <a:ln>
            <a:noFill/>
          </a:ln>
        </p:spPr>
        <p:txBody>
          <a:bodyPr anchorCtr="0" anchor="ctr" bIns="45700" lIns="91425" spcFirstLastPara="1" rIns="91425" wrap="square" tIns="4570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As a sleep health management company, we aim to leverage data from hospitals and medical facilities to promote healthier lifestyles. By analyzing the Sleep Health and Lifestyle Dataset, we investigate how demographic, occupational, and behavioral factors influence sleep disorders. Our goal is to uncover key predictors of poor sleep and build a data-driven foundation for personalized health recommendations.</a:t>
            </a:r>
            <a:endParaRPr b="0" i="0" sz="1400" u="none" cap="none" strike="noStrike">
              <a:solidFill>
                <a:srgbClr val="000000"/>
              </a:solidFill>
              <a:latin typeface="Arial"/>
              <a:ea typeface="Arial"/>
              <a:cs typeface="Arial"/>
              <a:sym typeface="Arial"/>
            </a:endParaRPr>
          </a:p>
        </p:txBody>
      </p:sp>
      <p:sp>
        <p:nvSpPr>
          <p:cNvPr id="245" name="Google Shape;245;p3"/>
          <p:cNvSpPr/>
          <p:nvPr/>
        </p:nvSpPr>
        <p:spPr>
          <a:xfrm>
            <a:off x="8670120" y="4361089"/>
            <a:ext cx="1943858" cy="444500"/>
          </a:xfrm>
          <a:prstGeom prst="rect">
            <a:avLst/>
          </a:prstGeom>
          <a:solidFill>
            <a:srgbClr val="FFB71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Motivation</a:t>
            </a:r>
            <a:endParaRPr b="0" i="0" sz="1800" u="none" cap="none" strike="noStrike">
              <a:solidFill>
                <a:schemeClr val="lt1"/>
              </a:solidFill>
              <a:latin typeface="Arial"/>
              <a:ea typeface="Arial"/>
              <a:cs typeface="Arial"/>
              <a:sym typeface="Arial"/>
            </a:endParaRPr>
          </a:p>
        </p:txBody>
      </p:sp>
      <p:sp>
        <p:nvSpPr>
          <p:cNvPr id="246" name="Google Shape;246;p3"/>
          <p:cNvSpPr txBox="1"/>
          <p:nvPr/>
        </p:nvSpPr>
        <p:spPr>
          <a:xfrm>
            <a:off x="878216" y="520685"/>
            <a:ext cx="412355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Intro &amp; Motivation</a:t>
            </a:r>
            <a:endParaRPr b="1" i="0" sz="3200" u="none" cap="none" strike="noStrike">
              <a:solidFill>
                <a:schemeClr val="dk1"/>
              </a:solidFill>
              <a:latin typeface="Arial"/>
              <a:ea typeface="Arial"/>
              <a:cs typeface="Arial"/>
              <a:sym typeface="Arial"/>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p4"/>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 name="Google Shape;253;p4"/>
          <p:cNvGrpSpPr/>
          <p:nvPr/>
        </p:nvGrpSpPr>
        <p:grpSpPr>
          <a:xfrm>
            <a:off x="178379" y="5425831"/>
            <a:ext cx="699837" cy="576543"/>
            <a:chOff x="342900" y="171450"/>
            <a:chExt cx="1028700" cy="847468"/>
          </a:xfrm>
        </p:grpSpPr>
        <p:grpSp>
          <p:nvGrpSpPr>
            <p:cNvPr id="254" name="Google Shape;254;p4"/>
            <p:cNvGrpSpPr/>
            <p:nvPr/>
          </p:nvGrpSpPr>
          <p:grpSpPr>
            <a:xfrm>
              <a:off x="342900" y="504825"/>
              <a:ext cx="1028700" cy="180718"/>
              <a:chOff x="342900" y="495300"/>
              <a:chExt cx="1409700" cy="247650"/>
            </a:xfrm>
          </p:grpSpPr>
          <p:sp>
            <p:nvSpPr>
              <p:cNvPr id="255" name="Google Shape;255;p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6" name="Google Shape;256;p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7" name="Google Shape;257;p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8" name="Google Shape;258;p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59" name="Google Shape;259;p4"/>
            <p:cNvGrpSpPr/>
            <p:nvPr/>
          </p:nvGrpSpPr>
          <p:grpSpPr>
            <a:xfrm>
              <a:off x="342900" y="838200"/>
              <a:ext cx="1028700" cy="180718"/>
              <a:chOff x="342900" y="495300"/>
              <a:chExt cx="1409700" cy="247650"/>
            </a:xfrm>
          </p:grpSpPr>
          <p:sp>
            <p:nvSpPr>
              <p:cNvPr id="260" name="Google Shape;260;p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p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2" name="Google Shape;262;p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3" name="Google Shape;263;p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64" name="Google Shape;264;p4"/>
            <p:cNvGrpSpPr/>
            <p:nvPr/>
          </p:nvGrpSpPr>
          <p:grpSpPr>
            <a:xfrm>
              <a:off x="342900" y="171450"/>
              <a:ext cx="1028700" cy="180718"/>
              <a:chOff x="342900" y="495300"/>
              <a:chExt cx="1409700" cy="247650"/>
            </a:xfrm>
          </p:grpSpPr>
          <p:sp>
            <p:nvSpPr>
              <p:cNvPr id="265" name="Google Shape;265;p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6" name="Google Shape;266;p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7" name="Google Shape;267;p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8" name="Google Shape;268;p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269" name="Google Shape;269;p4"/>
          <p:cNvGrpSpPr/>
          <p:nvPr/>
        </p:nvGrpSpPr>
        <p:grpSpPr>
          <a:xfrm>
            <a:off x="10722184" y="257737"/>
            <a:ext cx="705853" cy="581499"/>
            <a:chOff x="342900" y="171450"/>
            <a:chExt cx="1028700" cy="847468"/>
          </a:xfrm>
        </p:grpSpPr>
        <p:grpSp>
          <p:nvGrpSpPr>
            <p:cNvPr id="270" name="Google Shape;270;p4"/>
            <p:cNvGrpSpPr/>
            <p:nvPr/>
          </p:nvGrpSpPr>
          <p:grpSpPr>
            <a:xfrm>
              <a:off x="342900" y="504825"/>
              <a:ext cx="1028700" cy="180718"/>
              <a:chOff x="342900" y="495300"/>
              <a:chExt cx="1409700" cy="247650"/>
            </a:xfrm>
          </p:grpSpPr>
          <p:sp>
            <p:nvSpPr>
              <p:cNvPr id="271" name="Google Shape;271;p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2" name="Google Shape;272;p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3" name="Google Shape;273;p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4" name="Google Shape;274;p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75" name="Google Shape;275;p4"/>
            <p:cNvGrpSpPr/>
            <p:nvPr/>
          </p:nvGrpSpPr>
          <p:grpSpPr>
            <a:xfrm>
              <a:off x="342900" y="838200"/>
              <a:ext cx="1028700" cy="180718"/>
              <a:chOff x="342900" y="495300"/>
              <a:chExt cx="1409700" cy="247650"/>
            </a:xfrm>
          </p:grpSpPr>
          <p:sp>
            <p:nvSpPr>
              <p:cNvPr id="276" name="Google Shape;276;p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7" name="Google Shape;277;p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8" name="Google Shape;278;p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9" name="Google Shape;279;p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80" name="Google Shape;280;p4"/>
            <p:cNvGrpSpPr/>
            <p:nvPr/>
          </p:nvGrpSpPr>
          <p:grpSpPr>
            <a:xfrm>
              <a:off x="342900" y="171450"/>
              <a:ext cx="1028700" cy="180718"/>
              <a:chOff x="342900" y="495300"/>
              <a:chExt cx="1409700" cy="247650"/>
            </a:xfrm>
          </p:grpSpPr>
          <p:sp>
            <p:nvSpPr>
              <p:cNvPr id="281" name="Google Shape;281;p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2" name="Google Shape;282;p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3" name="Google Shape;283;p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4" name="Google Shape;284;p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285" name="Google Shape;285;p4"/>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6" name="Google Shape;286;p4"/>
          <p:cNvSpPr txBox="1"/>
          <p:nvPr/>
        </p:nvSpPr>
        <p:spPr>
          <a:xfrm>
            <a:off x="878216" y="520685"/>
            <a:ext cx="412355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Data Description</a:t>
            </a:r>
            <a:endParaRPr b="1" i="0" sz="3200" u="none" cap="none" strike="noStrike">
              <a:solidFill>
                <a:schemeClr val="dk1"/>
              </a:solidFill>
              <a:latin typeface="Arial"/>
              <a:ea typeface="Arial"/>
              <a:cs typeface="Arial"/>
              <a:sym typeface="Arial"/>
            </a:endParaRPr>
          </a:p>
        </p:txBody>
      </p:sp>
      <p:sp>
        <p:nvSpPr>
          <p:cNvPr id="287" name="Google Shape;287;p4"/>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88" name="Google Shape;288;p4"/>
          <p:cNvSpPr/>
          <p:nvPr/>
        </p:nvSpPr>
        <p:spPr>
          <a:xfrm>
            <a:off x="1267800" y="1243149"/>
            <a:ext cx="9815636" cy="170296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The dataset contains anonymized individual records with demographic information, lifestyle behaviors, and health indicators, collected through </a:t>
            </a:r>
            <a:r>
              <a:rPr b="1" i="0" lang="en-US" sz="1800" u="none" cap="none" strike="noStrike">
                <a:solidFill>
                  <a:schemeClr val="dk1"/>
                </a:solidFill>
              </a:rPr>
              <a:t>simulated</a:t>
            </a:r>
            <a:r>
              <a:rPr b="0" i="0" lang="en-US" sz="1800" u="none" cap="none" strike="noStrike">
                <a:solidFill>
                  <a:schemeClr val="dk1"/>
                </a:solidFill>
                <a:latin typeface="Arial"/>
                <a:ea typeface="Arial"/>
                <a:cs typeface="Arial"/>
                <a:sym typeface="Arial"/>
              </a:rPr>
              <a:t> health records and self-reported surveys. It aims to model the relationship between sleep quality, lifestyle habits, and the likelihood of sleep disorders across diverse age and occupational groups.</a:t>
            </a:r>
            <a:endParaRPr b="0" i="0" sz="1400" u="none" cap="none" strike="noStrike">
              <a:solidFill>
                <a:srgbClr val="000000"/>
              </a:solidFill>
              <a:latin typeface="Arial"/>
              <a:ea typeface="Arial"/>
              <a:cs typeface="Arial"/>
              <a:sym typeface="Arial"/>
            </a:endParaRPr>
          </a:p>
        </p:txBody>
      </p:sp>
      <p:sp>
        <p:nvSpPr>
          <p:cNvPr id="289" name="Google Shape;289;p4"/>
          <p:cNvSpPr/>
          <p:nvPr/>
        </p:nvSpPr>
        <p:spPr>
          <a:xfrm>
            <a:off x="1267800" y="3482400"/>
            <a:ext cx="9842285" cy="211846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Total Rows: </a:t>
            </a:r>
            <a:r>
              <a:rPr lang="en-US" sz="1800">
                <a:solidFill>
                  <a:schemeClr val="dk1"/>
                </a:solidFill>
              </a:rPr>
              <a:t>400</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Total Columns (features): 13</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Variable types: Numeric (continuous measures such as sleep duration, heart rate, stress level) and categorical (gender, occupation, BMI category, sleep disorder)</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Target variable: Sleep Disorder — classified as None, Insomnia, or Sleep Apnea.</a:t>
            </a:r>
            <a:endParaRPr b="0" i="0" sz="1800" u="none" cap="none" strike="noStrike">
              <a:solidFill>
                <a:schemeClr val="dk1"/>
              </a:solidFill>
              <a:latin typeface="Arial"/>
              <a:ea typeface="Arial"/>
              <a:cs typeface="Arial"/>
              <a:sym typeface="Arial"/>
            </a:endParaRPr>
          </a:p>
        </p:txBody>
      </p:sp>
      <p:cxnSp>
        <p:nvCxnSpPr>
          <p:cNvPr id="290" name="Google Shape;290;p4"/>
          <p:cNvCxnSpPr/>
          <p:nvPr/>
        </p:nvCxnSpPr>
        <p:spPr>
          <a:xfrm>
            <a:off x="1339989" y="3269283"/>
            <a:ext cx="9444195" cy="0"/>
          </a:xfrm>
          <a:prstGeom prst="straightConnector1">
            <a:avLst/>
          </a:prstGeom>
          <a:noFill/>
          <a:ln cap="flat" cmpd="sng" w="9525">
            <a:solidFill>
              <a:srgbClr val="7F7F7F"/>
            </a:solidFill>
            <a:prstDash val="dash"/>
            <a:round/>
            <a:headEnd len="sm" w="sm" type="none"/>
            <a:tailEnd len="sm" w="sm" type="none"/>
          </a:ln>
        </p:spPr>
      </p:cxnSp>
      <p:sp>
        <p:nvSpPr>
          <p:cNvPr id="291" name="Google Shape;291;p4"/>
          <p:cNvSpPr/>
          <p:nvPr/>
        </p:nvSpPr>
        <p:spPr>
          <a:xfrm>
            <a:off x="5835865" y="5880738"/>
            <a:ext cx="5706837"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downloaded from:</a:t>
            </a:r>
            <a:br>
              <a:rPr b="0" i="0" lang="en-US" sz="1100" u="none" cap="none" strike="noStrike">
                <a:solidFill>
                  <a:schemeClr val="dk1"/>
                </a:solidFill>
                <a:latin typeface="Arial"/>
                <a:ea typeface="Arial"/>
                <a:cs typeface="Arial"/>
                <a:sym typeface="Arial"/>
              </a:rPr>
            </a:br>
            <a:r>
              <a:rPr b="0" i="0" lang="en-US" sz="1100" u="sng" cap="none" strike="noStrike">
                <a:solidFill>
                  <a:schemeClr val="dk1"/>
                </a:solidFill>
                <a:latin typeface="Arial"/>
                <a:ea typeface="Arial"/>
                <a:cs typeface="Arial"/>
                <a:sym typeface="Arial"/>
                <a:hlinkClick r:id="rId3">
                  <a:extLst>
                    <a:ext uri="{A12FA001-AC4F-418D-AE19-62706E023703}">
                      <ahyp:hlinkClr val="tx"/>
                    </a:ext>
                  </a:extLst>
                </a:hlinkClick>
              </a:rPr>
              <a:t>https://www.kaggle.com/datasets/uom190346a/sleep-health-and-lifestyle-dataset</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p5"/>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98" name="Google Shape;298;p5"/>
          <p:cNvGrpSpPr/>
          <p:nvPr/>
        </p:nvGrpSpPr>
        <p:grpSpPr>
          <a:xfrm>
            <a:off x="178379" y="5425831"/>
            <a:ext cx="699837" cy="576543"/>
            <a:chOff x="342900" y="171450"/>
            <a:chExt cx="1028700" cy="847468"/>
          </a:xfrm>
        </p:grpSpPr>
        <p:grpSp>
          <p:nvGrpSpPr>
            <p:cNvPr id="299" name="Google Shape;299;p5"/>
            <p:cNvGrpSpPr/>
            <p:nvPr/>
          </p:nvGrpSpPr>
          <p:grpSpPr>
            <a:xfrm>
              <a:off x="342900" y="504825"/>
              <a:ext cx="1028700" cy="180718"/>
              <a:chOff x="342900" y="495300"/>
              <a:chExt cx="1409700" cy="247650"/>
            </a:xfrm>
          </p:grpSpPr>
          <p:sp>
            <p:nvSpPr>
              <p:cNvPr id="300" name="Google Shape;300;p5"/>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1" name="Google Shape;301;p5"/>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2" name="Google Shape;302;p5"/>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3" name="Google Shape;303;p5"/>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04" name="Google Shape;304;p5"/>
            <p:cNvGrpSpPr/>
            <p:nvPr/>
          </p:nvGrpSpPr>
          <p:grpSpPr>
            <a:xfrm>
              <a:off x="342900" y="838200"/>
              <a:ext cx="1028700" cy="180718"/>
              <a:chOff x="342900" y="495300"/>
              <a:chExt cx="1409700" cy="247650"/>
            </a:xfrm>
          </p:grpSpPr>
          <p:sp>
            <p:nvSpPr>
              <p:cNvPr id="305" name="Google Shape;305;p5"/>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6" name="Google Shape;306;p5"/>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7" name="Google Shape;307;p5"/>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8" name="Google Shape;308;p5"/>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09" name="Google Shape;309;p5"/>
            <p:cNvGrpSpPr/>
            <p:nvPr/>
          </p:nvGrpSpPr>
          <p:grpSpPr>
            <a:xfrm>
              <a:off x="342900" y="171450"/>
              <a:ext cx="1028700" cy="180718"/>
              <a:chOff x="342900" y="495300"/>
              <a:chExt cx="1409700" cy="247650"/>
            </a:xfrm>
          </p:grpSpPr>
          <p:sp>
            <p:nvSpPr>
              <p:cNvPr id="310" name="Google Shape;310;p5"/>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1" name="Google Shape;311;p5"/>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2" name="Google Shape;312;p5"/>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3" name="Google Shape;313;p5"/>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314" name="Google Shape;314;p5"/>
          <p:cNvGrpSpPr/>
          <p:nvPr/>
        </p:nvGrpSpPr>
        <p:grpSpPr>
          <a:xfrm>
            <a:off x="10722184" y="257737"/>
            <a:ext cx="705853" cy="581499"/>
            <a:chOff x="342900" y="171450"/>
            <a:chExt cx="1028700" cy="847468"/>
          </a:xfrm>
        </p:grpSpPr>
        <p:grpSp>
          <p:nvGrpSpPr>
            <p:cNvPr id="315" name="Google Shape;315;p5"/>
            <p:cNvGrpSpPr/>
            <p:nvPr/>
          </p:nvGrpSpPr>
          <p:grpSpPr>
            <a:xfrm>
              <a:off x="342900" y="504825"/>
              <a:ext cx="1028700" cy="180718"/>
              <a:chOff x="342900" y="495300"/>
              <a:chExt cx="1409700" cy="247650"/>
            </a:xfrm>
          </p:grpSpPr>
          <p:sp>
            <p:nvSpPr>
              <p:cNvPr id="316" name="Google Shape;316;p5"/>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7" name="Google Shape;317;p5"/>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8" name="Google Shape;318;p5"/>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9" name="Google Shape;319;p5"/>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20" name="Google Shape;320;p5"/>
            <p:cNvGrpSpPr/>
            <p:nvPr/>
          </p:nvGrpSpPr>
          <p:grpSpPr>
            <a:xfrm>
              <a:off x="342900" y="838200"/>
              <a:ext cx="1028700" cy="180718"/>
              <a:chOff x="342900" y="495300"/>
              <a:chExt cx="1409700" cy="247650"/>
            </a:xfrm>
          </p:grpSpPr>
          <p:sp>
            <p:nvSpPr>
              <p:cNvPr id="321" name="Google Shape;321;p5"/>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2" name="Google Shape;322;p5"/>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3" name="Google Shape;323;p5"/>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4" name="Google Shape;324;p5"/>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25" name="Google Shape;325;p5"/>
            <p:cNvGrpSpPr/>
            <p:nvPr/>
          </p:nvGrpSpPr>
          <p:grpSpPr>
            <a:xfrm>
              <a:off x="342900" y="171450"/>
              <a:ext cx="1028700" cy="180718"/>
              <a:chOff x="342900" y="495300"/>
              <a:chExt cx="1409700" cy="247650"/>
            </a:xfrm>
          </p:grpSpPr>
          <p:sp>
            <p:nvSpPr>
              <p:cNvPr id="326" name="Google Shape;326;p5"/>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7" name="Google Shape;327;p5"/>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8" name="Google Shape;328;p5"/>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9" name="Google Shape;329;p5"/>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330" name="Google Shape;330;p5"/>
          <p:cNvSpPr/>
          <p:nvPr/>
        </p:nvSpPr>
        <p:spPr>
          <a:xfrm>
            <a:off x="649298" y="592813"/>
            <a:ext cx="10965000" cy="5744400"/>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5"/>
          <p:cNvSpPr txBox="1"/>
          <p:nvPr/>
        </p:nvSpPr>
        <p:spPr>
          <a:xfrm>
            <a:off x="1731028" y="2894521"/>
            <a:ext cx="928294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How Do Lifestyle Behaviors Affect Sleep?</a:t>
            </a:r>
            <a:endParaRPr b="1" i="0" sz="3600" u="none" cap="none" strike="noStrike">
              <a:solidFill>
                <a:schemeClr val="dk1"/>
              </a:solidFill>
              <a:latin typeface="Arial"/>
              <a:ea typeface="Arial"/>
              <a:cs typeface="Arial"/>
              <a:sym typeface="Arial"/>
            </a:endParaRPr>
          </a:p>
        </p:txBody>
      </p:sp>
      <p:sp>
        <p:nvSpPr>
          <p:cNvPr id="332" name="Google Shape;332;p5"/>
          <p:cNvSpPr/>
          <p:nvPr/>
        </p:nvSpPr>
        <p:spPr>
          <a:xfrm flipH="1" rot="-840000">
            <a:off x="4527550" y="1757201"/>
            <a:ext cx="721995" cy="721995"/>
          </a:xfrm>
          <a:prstGeom prst="ellipse">
            <a:avLst/>
          </a:prstGeom>
          <a:gradFill>
            <a:gsLst>
              <a:gs pos="0">
                <a:srgbClr val="EE8B11"/>
              </a:gs>
              <a:gs pos="9000">
                <a:srgbClr val="EE8B11"/>
              </a:gs>
              <a:gs pos="100000">
                <a:srgbClr val="FFFFFF">
                  <a:alpha val="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3" name="Google Shape;333;p5"/>
          <p:cNvSpPr txBox="1"/>
          <p:nvPr/>
        </p:nvSpPr>
        <p:spPr>
          <a:xfrm>
            <a:off x="967775" y="1840975"/>
            <a:ext cx="41322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2F53BA"/>
              </a:buClr>
              <a:buSzPts val="4800"/>
              <a:buFont typeface="Arial"/>
              <a:buNone/>
            </a:pPr>
            <a:r>
              <a:rPr b="1" i="0" lang="en-US" sz="4800" u="none" cap="none" strike="noStrike">
                <a:solidFill>
                  <a:srgbClr val="2F53BA"/>
                </a:solidFill>
                <a:latin typeface="Arial"/>
                <a:ea typeface="Arial"/>
                <a:cs typeface="Arial"/>
                <a:sym typeface="Arial"/>
              </a:rPr>
              <a:t>PART TWO</a:t>
            </a:r>
            <a:endParaRPr b="0" i="0" sz="1400" u="none" cap="none" strike="noStrike">
              <a:solidFill>
                <a:srgbClr val="000000"/>
              </a:solidFill>
              <a:latin typeface="Arial"/>
              <a:ea typeface="Arial"/>
              <a:cs typeface="Arial"/>
              <a:sym typeface="Arial"/>
            </a:endParaRPr>
          </a:p>
        </p:txBody>
      </p:sp>
      <p:grpSp>
        <p:nvGrpSpPr>
          <p:cNvPr id="334" name="Google Shape;334;p5"/>
          <p:cNvGrpSpPr/>
          <p:nvPr/>
        </p:nvGrpSpPr>
        <p:grpSpPr>
          <a:xfrm>
            <a:off x="10159895" y="4066992"/>
            <a:ext cx="1032510" cy="133985"/>
            <a:chOff x="15823" y="7432"/>
            <a:chExt cx="1626" cy="211"/>
          </a:xfrm>
        </p:grpSpPr>
        <p:sp>
          <p:nvSpPr>
            <p:cNvPr id="335" name="Google Shape;335;p5"/>
            <p:cNvSpPr/>
            <p:nvPr/>
          </p:nvSpPr>
          <p:spPr>
            <a:xfrm flipH="1" rot="10800000">
              <a:off x="15823"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6" name="Google Shape;336;p5"/>
            <p:cNvSpPr/>
            <p:nvPr/>
          </p:nvSpPr>
          <p:spPr>
            <a:xfrm flipH="1" rot="10800000">
              <a:off x="16107"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7" name="Google Shape;337;p5"/>
            <p:cNvSpPr/>
            <p:nvPr/>
          </p:nvSpPr>
          <p:spPr>
            <a:xfrm flipH="1" rot="10800000">
              <a:off x="16388"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8" name="Google Shape;338;p5"/>
            <p:cNvSpPr/>
            <p:nvPr/>
          </p:nvSpPr>
          <p:spPr>
            <a:xfrm flipH="1" rot="10800000">
              <a:off x="16673"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9" name="Google Shape;339;p5"/>
            <p:cNvSpPr/>
            <p:nvPr/>
          </p:nvSpPr>
          <p:spPr>
            <a:xfrm flipH="1" rot="10800000">
              <a:off x="16957"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0" name="Google Shape;340;p5"/>
            <p:cNvSpPr/>
            <p:nvPr/>
          </p:nvSpPr>
          <p:spPr>
            <a:xfrm flipH="1" rot="10800000">
              <a:off x="17238"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6"/>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48" name="Google Shape;348;p6"/>
          <p:cNvGrpSpPr/>
          <p:nvPr/>
        </p:nvGrpSpPr>
        <p:grpSpPr>
          <a:xfrm>
            <a:off x="178379" y="5425831"/>
            <a:ext cx="699837" cy="576543"/>
            <a:chOff x="342900" y="171450"/>
            <a:chExt cx="1028700" cy="847468"/>
          </a:xfrm>
        </p:grpSpPr>
        <p:grpSp>
          <p:nvGrpSpPr>
            <p:cNvPr id="349" name="Google Shape;349;p6"/>
            <p:cNvGrpSpPr/>
            <p:nvPr/>
          </p:nvGrpSpPr>
          <p:grpSpPr>
            <a:xfrm>
              <a:off x="342900" y="504825"/>
              <a:ext cx="1028700" cy="180718"/>
              <a:chOff x="342900" y="495300"/>
              <a:chExt cx="1409700" cy="247650"/>
            </a:xfrm>
          </p:grpSpPr>
          <p:sp>
            <p:nvSpPr>
              <p:cNvPr id="350" name="Google Shape;350;p6"/>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1" name="Google Shape;351;p6"/>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2" name="Google Shape;352;p6"/>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3" name="Google Shape;353;p6"/>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54" name="Google Shape;354;p6"/>
            <p:cNvGrpSpPr/>
            <p:nvPr/>
          </p:nvGrpSpPr>
          <p:grpSpPr>
            <a:xfrm>
              <a:off x="342900" y="838200"/>
              <a:ext cx="1028700" cy="180718"/>
              <a:chOff x="342900" y="495300"/>
              <a:chExt cx="1409700" cy="247650"/>
            </a:xfrm>
          </p:grpSpPr>
          <p:sp>
            <p:nvSpPr>
              <p:cNvPr id="355" name="Google Shape;355;p6"/>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6" name="Google Shape;356;p6"/>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7" name="Google Shape;357;p6"/>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8" name="Google Shape;358;p6"/>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59" name="Google Shape;359;p6"/>
            <p:cNvGrpSpPr/>
            <p:nvPr/>
          </p:nvGrpSpPr>
          <p:grpSpPr>
            <a:xfrm>
              <a:off x="342900" y="171450"/>
              <a:ext cx="1028700" cy="180718"/>
              <a:chOff x="342900" y="495300"/>
              <a:chExt cx="1409700" cy="247650"/>
            </a:xfrm>
          </p:grpSpPr>
          <p:sp>
            <p:nvSpPr>
              <p:cNvPr id="360" name="Google Shape;360;p6"/>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1" name="Google Shape;361;p6"/>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2" name="Google Shape;362;p6"/>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3" name="Google Shape;363;p6"/>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364" name="Google Shape;364;p6"/>
          <p:cNvGrpSpPr/>
          <p:nvPr/>
        </p:nvGrpSpPr>
        <p:grpSpPr>
          <a:xfrm>
            <a:off x="10722184" y="257737"/>
            <a:ext cx="705853" cy="581499"/>
            <a:chOff x="342900" y="171450"/>
            <a:chExt cx="1028700" cy="847468"/>
          </a:xfrm>
        </p:grpSpPr>
        <p:grpSp>
          <p:nvGrpSpPr>
            <p:cNvPr id="365" name="Google Shape;365;p6"/>
            <p:cNvGrpSpPr/>
            <p:nvPr/>
          </p:nvGrpSpPr>
          <p:grpSpPr>
            <a:xfrm>
              <a:off x="342900" y="504825"/>
              <a:ext cx="1028700" cy="180718"/>
              <a:chOff x="342900" y="495300"/>
              <a:chExt cx="1409700" cy="247650"/>
            </a:xfrm>
          </p:grpSpPr>
          <p:sp>
            <p:nvSpPr>
              <p:cNvPr id="366" name="Google Shape;366;p6"/>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7" name="Google Shape;367;p6"/>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8" name="Google Shape;368;p6"/>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9" name="Google Shape;369;p6"/>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70" name="Google Shape;370;p6"/>
            <p:cNvGrpSpPr/>
            <p:nvPr/>
          </p:nvGrpSpPr>
          <p:grpSpPr>
            <a:xfrm>
              <a:off x="342900" y="838200"/>
              <a:ext cx="1028700" cy="180718"/>
              <a:chOff x="342900" y="495300"/>
              <a:chExt cx="1409700" cy="247650"/>
            </a:xfrm>
          </p:grpSpPr>
          <p:sp>
            <p:nvSpPr>
              <p:cNvPr id="371" name="Google Shape;371;p6"/>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2" name="Google Shape;372;p6"/>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3" name="Google Shape;373;p6"/>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4" name="Google Shape;374;p6"/>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75" name="Google Shape;375;p6"/>
            <p:cNvGrpSpPr/>
            <p:nvPr/>
          </p:nvGrpSpPr>
          <p:grpSpPr>
            <a:xfrm>
              <a:off x="342900" y="171450"/>
              <a:ext cx="1028700" cy="180718"/>
              <a:chOff x="342900" y="495300"/>
              <a:chExt cx="1409700" cy="247650"/>
            </a:xfrm>
          </p:grpSpPr>
          <p:sp>
            <p:nvSpPr>
              <p:cNvPr id="376" name="Google Shape;376;p6"/>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7" name="Google Shape;377;p6"/>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8" name="Google Shape;378;p6"/>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9" name="Google Shape;379;p6"/>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380" name="Google Shape;380;p6"/>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6"/>
          <p:cNvSpPr txBox="1"/>
          <p:nvPr/>
        </p:nvSpPr>
        <p:spPr>
          <a:xfrm>
            <a:off x="657899" y="529970"/>
            <a:ext cx="1096512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Arial"/>
                <a:ea typeface="Arial"/>
                <a:cs typeface="Arial"/>
                <a:sym typeface="Arial"/>
              </a:rPr>
              <a:t>Does higher stress level increase the risk of sleep disorders?</a:t>
            </a:r>
            <a:endParaRPr b="1" i="1" sz="2000" u="none" cap="none" strike="noStrike">
              <a:solidFill>
                <a:schemeClr val="dk1"/>
              </a:solidFill>
              <a:latin typeface="Arial"/>
              <a:ea typeface="Arial"/>
              <a:cs typeface="Arial"/>
              <a:sym typeface="Arial"/>
            </a:endParaRPr>
          </a:p>
        </p:txBody>
      </p:sp>
      <p:sp>
        <p:nvSpPr>
          <p:cNvPr id="382" name="Google Shape;382;p6"/>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83" name="Google Shape;383;p6"/>
          <p:cNvSpPr/>
          <p:nvPr/>
        </p:nvSpPr>
        <p:spPr>
          <a:xfrm>
            <a:off x="7683292" y="1374423"/>
            <a:ext cx="3824949" cy="424731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Individuals with higher stress levels are significantly more likely to have insomnia or sleep apnea.</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At low stress levels, most individuals have no sleep disorder.</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proportion of sleep disorder cases increases sharply at stress levels </a:t>
            </a:r>
            <a:r>
              <a:rPr lang="en-US" sz="1800">
                <a:solidFill>
                  <a:schemeClr val="dk1"/>
                </a:solidFill>
              </a:rPr>
              <a:t>7</a:t>
            </a:r>
            <a:r>
              <a:rPr b="0" i="0" lang="en-US" sz="1800" u="none" cap="none" strike="noStrike">
                <a:solidFill>
                  <a:schemeClr val="dk1"/>
                </a:solidFill>
                <a:latin typeface="Arial"/>
                <a:ea typeface="Arial"/>
                <a:cs typeface="Arial"/>
                <a:sym typeface="Arial"/>
              </a:rPr>
              <a:t> and </a:t>
            </a:r>
            <a:r>
              <a:rPr lang="en-US" sz="1800">
                <a:solidFill>
                  <a:schemeClr val="dk1"/>
                </a:solidFill>
              </a:rPr>
              <a:t>8</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Stress is a strong behavioral predictor of sleep disorders.</a:t>
            </a:r>
            <a:endParaRPr b="0" i="0" sz="1400" u="none" cap="none" strike="noStrike">
              <a:solidFill>
                <a:srgbClr val="000000"/>
              </a:solidFill>
              <a:latin typeface="Arial"/>
              <a:ea typeface="Arial"/>
              <a:cs typeface="Arial"/>
              <a:sym typeface="Arial"/>
            </a:endParaRPr>
          </a:p>
        </p:txBody>
      </p:sp>
      <p:pic>
        <p:nvPicPr>
          <p:cNvPr id="384" name="Google Shape;384;p6"/>
          <p:cNvPicPr preferRelativeResize="0"/>
          <p:nvPr/>
        </p:nvPicPr>
        <p:blipFill rotWithShape="1">
          <a:blip r:embed="rId3">
            <a:alphaModFix/>
          </a:blip>
          <a:srcRect b="0" l="0" r="3264" t="0"/>
          <a:stretch/>
        </p:blipFill>
        <p:spPr>
          <a:xfrm>
            <a:off x="913012" y="1460052"/>
            <a:ext cx="6621071" cy="4065251"/>
          </a:xfrm>
          <a:prstGeom prst="rect">
            <a:avLst/>
          </a:prstGeom>
          <a:noFill/>
          <a:ln>
            <a:noFill/>
          </a:ln>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p7"/>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92" name="Google Shape;392;p7"/>
          <p:cNvGrpSpPr/>
          <p:nvPr/>
        </p:nvGrpSpPr>
        <p:grpSpPr>
          <a:xfrm>
            <a:off x="178379" y="5425831"/>
            <a:ext cx="699837" cy="576543"/>
            <a:chOff x="342900" y="171450"/>
            <a:chExt cx="1028700" cy="847468"/>
          </a:xfrm>
        </p:grpSpPr>
        <p:grpSp>
          <p:nvGrpSpPr>
            <p:cNvPr id="393" name="Google Shape;393;p7"/>
            <p:cNvGrpSpPr/>
            <p:nvPr/>
          </p:nvGrpSpPr>
          <p:grpSpPr>
            <a:xfrm>
              <a:off x="342900" y="504825"/>
              <a:ext cx="1028700" cy="180718"/>
              <a:chOff x="342900" y="495300"/>
              <a:chExt cx="1409700" cy="247650"/>
            </a:xfrm>
          </p:grpSpPr>
          <p:sp>
            <p:nvSpPr>
              <p:cNvPr id="394" name="Google Shape;394;p7"/>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95" name="Google Shape;395;p7"/>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96" name="Google Shape;396;p7"/>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97" name="Google Shape;397;p7"/>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398" name="Google Shape;398;p7"/>
            <p:cNvGrpSpPr/>
            <p:nvPr/>
          </p:nvGrpSpPr>
          <p:grpSpPr>
            <a:xfrm>
              <a:off x="342900" y="838200"/>
              <a:ext cx="1028700" cy="180718"/>
              <a:chOff x="342900" y="495300"/>
              <a:chExt cx="1409700" cy="247650"/>
            </a:xfrm>
          </p:grpSpPr>
          <p:sp>
            <p:nvSpPr>
              <p:cNvPr id="399" name="Google Shape;399;p7"/>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0" name="Google Shape;400;p7"/>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1" name="Google Shape;401;p7"/>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2" name="Google Shape;402;p7"/>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03" name="Google Shape;403;p7"/>
            <p:cNvGrpSpPr/>
            <p:nvPr/>
          </p:nvGrpSpPr>
          <p:grpSpPr>
            <a:xfrm>
              <a:off x="342900" y="171450"/>
              <a:ext cx="1028700" cy="180718"/>
              <a:chOff x="342900" y="495300"/>
              <a:chExt cx="1409700" cy="247650"/>
            </a:xfrm>
          </p:grpSpPr>
          <p:sp>
            <p:nvSpPr>
              <p:cNvPr id="404" name="Google Shape;404;p7"/>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5" name="Google Shape;405;p7"/>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6" name="Google Shape;406;p7"/>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7" name="Google Shape;407;p7"/>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408" name="Google Shape;408;p7"/>
          <p:cNvGrpSpPr/>
          <p:nvPr/>
        </p:nvGrpSpPr>
        <p:grpSpPr>
          <a:xfrm>
            <a:off x="10722184" y="257737"/>
            <a:ext cx="705853" cy="581499"/>
            <a:chOff x="342900" y="171450"/>
            <a:chExt cx="1028700" cy="847468"/>
          </a:xfrm>
        </p:grpSpPr>
        <p:grpSp>
          <p:nvGrpSpPr>
            <p:cNvPr id="409" name="Google Shape;409;p7"/>
            <p:cNvGrpSpPr/>
            <p:nvPr/>
          </p:nvGrpSpPr>
          <p:grpSpPr>
            <a:xfrm>
              <a:off x="342900" y="504825"/>
              <a:ext cx="1028700" cy="180718"/>
              <a:chOff x="342900" y="495300"/>
              <a:chExt cx="1409700" cy="247650"/>
            </a:xfrm>
          </p:grpSpPr>
          <p:sp>
            <p:nvSpPr>
              <p:cNvPr id="410" name="Google Shape;410;p7"/>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1" name="Google Shape;411;p7"/>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2" name="Google Shape;412;p7"/>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3" name="Google Shape;413;p7"/>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14" name="Google Shape;414;p7"/>
            <p:cNvGrpSpPr/>
            <p:nvPr/>
          </p:nvGrpSpPr>
          <p:grpSpPr>
            <a:xfrm>
              <a:off x="342900" y="838200"/>
              <a:ext cx="1028700" cy="180718"/>
              <a:chOff x="342900" y="495300"/>
              <a:chExt cx="1409700" cy="247650"/>
            </a:xfrm>
          </p:grpSpPr>
          <p:sp>
            <p:nvSpPr>
              <p:cNvPr id="415" name="Google Shape;415;p7"/>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6" name="Google Shape;416;p7"/>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7" name="Google Shape;417;p7"/>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8" name="Google Shape;418;p7"/>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19" name="Google Shape;419;p7"/>
            <p:cNvGrpSpPr/>
            <p:nvPr/>
          </p:nvGrpSpPr>
          <p:grpSpPr>
            <a:xfrm>
              <a:off x="342900" y="171450"/>
              <a:ext cx="1028700" cy="180718"/>
              <a:chOff x="342900" y="495300"/>
              <a:chExt cx="1409700" cy="247650"/>
            </a:xfrm>
          </p:grpSpPr>
          <p:sp>
            <p:nvSpPr>
              <p:cNvPr id="420" name="Google Shape;420;p7"/>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1" name="Google Shape;421;p7"/>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2" name="Google Shape;422;p7"/>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3" name="Google Shape;423;p7"/>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424" name="Google Shape;424;p7"/>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5" name="Google Shape;425;p7"/>
          <p:cNvSpPr txBox="1"/>
          <p:nvPr/>
        </p:nvSpPr>
        <p:spPr>
          <a:xfrm>
            <a:off x="657899" y="529970"/>
            <a:ext cx="1096512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Arial"/>
                <a:ea typeface="Arial"/>
                <a:cs typeface="Arial"/>
                <a:sym typeface="Arial"/>
              </a:rPr>
              <a:t>Does longer daily screen time negatively affect quality of sleep?</a:t>
            </a:r>
            <a:endParaRPr b="1" i="1" sz="2000" u="none" cap="none" strike="noStrike">
              <a:solidFill>
                <a:schemeClr val="dk1"/>
              </a:solidFill>
              <a:latin typeface="Arial"/>
              <a:ea typeface="Arial"/>
              <a:cs typeface="Arial"/>
              <a:sym typeface="Arial"/>
            </a:endParaRPr>
          </a:p>
        </p:txBody>
      </p:sp>
      <p:sp>
        <p:nvSpPr>
          <p:cNvPr id="426" name="Google Shape;426;p7"/>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27" name="Google Shape;427;p7"/>
          <p:cNvSpPr/>
          <p:nvPr/>
        </p:nvSpPr>
        <p:spPr>
          <a:xfrm>
            <a:off x="7698712" y="1528553"/>
            <a:ext cx="3824949" cy="369331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Sleep quality declines as screen exposure increases.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Higher screen time groups show </a:t>
            </a:r>
            <a:r>
              <a:rPr b="0" i="0" lang="en-US" sz="1800" u="sng" cap="none" strike="noStrike">
                <a:solidFill>
                  <a:schemeClr val="dk1"/>
                </a:solidFill>
                <a:latin typeface="Arial"/>
                <a:ea typeface="Arial"/>
                <a:cs typeface="Arial"/>
                <a:sym typeface="Arial"/>
              </a:rPr>
              <a:t>lower median sleep quality </a:t>
            </a:r>
            <a:r>
              <a:rPr b="0" i="0" lang="en-US" sz="1800" u="none" cap="none" strike="noStrike">
                <a:solidFill>
                  <a:schemeClr val="dk1"/>
                </a:solidFill>
                <a:latin typeface="Arial"/>
                <a:ea typeface="Arial"/>
                <a:cs typeface="Arial"/>
                <a:sym typeface="Arial"/>
              </a:rPr>
              <a:t>and more variability.</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Suggests digital stimulation may disrupt healthy sleep cycles.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Indicates screen time is a </a:t>
            </a:r>
            <a:r>
              <a:rPr b="0" i="0" lang="en-US" sz="1800" u="sng" cap="none" strike="noStrike">
                <a:solidFill>
                  <a:schemeClr val="dk1"/>
                </a:solidFill>
                <a:latin typeface="Arial"/>
                <a:ea typeface="Arial"/>
                <a:cs typeface="Arial"/>
                <a:sym typeface="Arial"/>
              </a:rPr>
              <a:t>modifiable lifestyle factor </a:t>
            </a:r>
            <a:r>
              <a:rPr b="0" i="0" lang="en-US" sz="1800" u="none" cap="none" strike="noStrike">
                <a:solidFill>
                  <a:schemeClr val="dk1"/>
                </a:solidFill>
                <a:latin typeface="Arial"/>
                <a:ea typeface="Arial"/>
                <a:cs typeface="Arial"/>
                <a:sym typeface="Arial"/>
              </a:rPr>
              <a:t>in sleep health management.</a:t>
            </a:r>
            <a:endParaRPr b="0" i="0" sz="1400" u="none" cap="none" strike="noStrike">
              <a:solidFill>
                <a:srgbClr val="000000"/>
              </a:solidFill>
              <a:latin typeface="Arial"/>
              <a:ea typeface="Arial"/>
              <a:cs typeface="Arial"/>
              <a:sym typeface="Arial"/>
            </a:endParaRPr>
          </a:p>
        </p:txBody>
      </p:sp>
      <p:pic>
        <p:nvPicPr>
          <p:cNvPr id="428" name="Google Shape;428;p7"/>
          <p:cNvPicPr preferRelativeResize="0"/>
          <p:nvPr/>
        </p:nvPicPr>
        <p:blipFill rotWithShape="1">
          <a:blip r:embed="rId3">
            <a:alphaModFix/>
          </a:blip>
          <a:srcRect b="0" l="0" r="0" t="0"/>
          <a:stretch/>
        </p:blipFill>
        <p:spPr>
          <a:xfrm>
            <a:off x="1086903" y="1503218"/>
            <a:ext cx="6273677" cy="3851561"/>
          </a:xfrm>
          <a:prstGeom prst="rect">
            <a:avLst/>
          </a:prstGeom>
          <a:noFill/>
          <a:ln>
            <a:noFill/>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8"/>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5" name="Google Shape;435;p8"/>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36" name="Google Shape;436;p8"/>
          <p:cNvGrpSpPr/>
          <p:nvPr/>
        </p:nvGrpSpPr>
        <p:grpSpPr>
          <a:xfrm>
            <a:off x="178379" y="5425831"/>
            <a:ext cx="699837" cy="576543"/>
            <a:chOff x="342900" y="171450"/>
            <a:chExt cx="1028700" cy="847468"/>
          </a:xfrm>
        </p:grpSpPr>
        <p:grpSp>
          <p:nvGrpSpPr>
            <p:cNvPr id="437" name="Google Shape;437;p8"/>
            <p:cNvGrpSpPr/>
            <p:nvPr/>
          </p:nvGrpSpPr>
          <p:grpSpPr>
            <a:xfrm>
              <a:off x="342900" y="504825"/>
              <a:ext cx="1028700" cy="180718"/>
              <a:chOff x="342900" y="495300"/>
              <a:chExt cx="1409700" cy="247650"/>
            </a:xfrm>
          </p:grpSpPr>
          <p:sp>
            <p:nvSpPr>
              <p:cNvPr id="438" name="Google Shape;438;p8"/>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39" name="Google Shape;439;p8"/>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0" name="Google Shape;440;p8"/>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1" name="Google Shape;441;p8"/>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42" name="Google Shape;442;p8"/>
            <p:cNvGrpSpPr/>
            <p:nvPr/>
          </p:nvGrpSpPr>
          <p:grpSpPr>
            <a:xfrm>
              <a:off x="342900" y="838200"/>
              <a:ext cx="1028700" cy="180718"/>
              <a:chOff x="342900" y="495300"/>
              <a:chExt cx="1409700" cy="247650"/>
            </a:xfrm>
          </p:grpSpPr>
          <p:sp>
            <p:nvSpPr>
              <p:cNvPr id="443" name="Google Shape;443;p8"/>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4" name="Google Shape;444;p8"/>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5" name="Google Shape;445;p8"/>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6" name="Google Shape;446;p8"/>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47" name="Google Shape;447;p8"/>
            <p:cNvGrpSpPr/>
            <p:nvPr/>
          </p:nvGrpSpPr>
          <p:grpSpPr>
            <a:xfrm>
              <a:off x="342900" y="171450"/>
              <a:ext cx="1028700" cy="180718"/>
              <a:chOff x="342900" y="495300"/>
              <a:chExt cx="1409700" cy="247650"/>
            </a:xfrm>
          </p:grpSpPr>
          <p:sp>
            <p:nvSpPr>
              <p:cNvPr id="448" name="Google Shape;448;p8"/>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9" name="Google Shape;449;p8"/>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50" name="Google Shape;450;p8"/>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51" name="Google Shape;451;p8"/>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452" name="Google Shape;452;p8"/>
          <p:cNvGrpSpPr/>
          <p:nvPr/>
        </p:nvGrpSpPr>
        <p:grpSpPr>
          <a:xfrm>
            <a:off x="10722184" y="257737"/>
            <a:ext cx="705853" cy="581499"/>
            <a:chOff x="342900" y="171450"/>
            <a:chExt cx="1028700" cy="847468"/>
          </a:xfrm>
        </p:grpSpPr>
        <p:grpSp>
          <p:nvGrpSpPr>
            <p:cNvPr id="453" name="Google Shape;453;p8"/>
            <p:cNvGrpSpPr/>
            <p:nvPr/>
          </p:nvGrpSpPr>
          <p:grpSpPr>
            <a:xfrm>
              <a:off x="342900" y="504825"/>
              <a:ext cx="1028700" cy="180718"/>
              <a:chOff x="342900" y="495300"/>
              <a:chExt cx="1409700" cy="247650"/>
            </a:xfrm>
          </p:grpSpPr>
          <p:sp>
            <p:nvSpPr>
              <p:cNvPr id="454" name="Google Shape;454;p8"/>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55" name="Google Shape;455;p8"/>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56" name="Google Shape;456;p8"/>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57" name="Google Shape;457;p8"/>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58" name="Google Shape;458;p8"/>
            <p:cNvGrpSpPr/>
            <p:nvPr/>
          </p:nvGrpSpPr>
          <p:grpSpPr>
            <a:xfrm>
              <a:off x="342900" y="838200"/>
              <a:ext cx="1028700" cy="180718"/>
              <a:chOff x="342900" y="495300"/>
              <a:chExt cx="1409700" cy="247650"/>
            </a:xfrm>
          </p:grpSpPr>
          <p:sp>
            <p:nvSpPr>
              <p:cNvPr id="459" name="Google Shape;459;p8"/>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0" name="Google Shape;460;p8"/>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1" name="Google Shape;461;p8"/>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2" name="Google Shape;462;p8"/>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63" name="Google Shape;463;p8"/>
            <p:cNvGrpSpPr/>
            <p:nvPr/>
          </p:nvGrpSpPr>
          <p:grpSpPr>
            <a:xfrm>
              <a:off x="342900" y="171450"/>
              <a:ext cx="1028700" cy="180718"/>
              <a:chOff x="342900" y="495300"/>
              <a:chExt cx="1409700" cy="247650"/>
            </a:xfrm>
          </p:grpSpPr>
          <p:sp>
            <p:nvSpPr>
              <p:cNvPr id="464" name="Google Shape;464;p8"/>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5" name="Google Shape;465;p8"/>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6" name="Google Shape;466;p8"/>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7" name="Google Shape;467;p8"/>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468" name="Google Shape;468;p8"/>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8"/>
          <p:cNvSpPr txBox="1"/>
          <p:nvPr/>
        </p:nvSpPr>
        <p:spPr>
          <a:xfrm>
            <a:off x="657899" y="529970"/>
            <a:ext cx="1096512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Arial"/>
                <a:ea typeface="Arial"/>
                <a:cs typeface="Arial"/>
                <a:sym typeface="Arial"/>
              </a:rPr>
              <a:t>How does caffeine intake affect sleep duration?</a:t>
            </a:r>
            <a:endParaRPr b="1" i="1" sz="2000" u="none" cap="none" strike="noStrike">
              <a:solidFill>
                <a:schemeClr val="dk1"/>
              </a:solidFill>
              <a:latin typeface="Arial"/>
              <a:ea typeface="Arial"/>
              <a:cs typeface="Arial"/>
              <a:sym typeface="Arial"/>
            </a:endParaRPr>
          </a:p>
        </p:txBody>
      </p:sp>
      <p:sp>
        <p:nvSpPr>
          <p:cNvPr id="470" name="Google Shape;470;p8"/>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71" name="Google Shape;471;p8"/>
          <p:cNvSpPr/>
          <p:nvPr/>
        </p:nvSpPr>
        <p:spPr>
          <a:xfrm>
            <a:off x="7698712" y="1582340"/>
            <a:ext cx="3824949" cy="369331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Each point represents an individual’s caffeine intake vs. hours of sleep.</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trend line indicates a </a:t>
            </a:r>
            <a:r>
              <a:rPr b="0" i="0" lang="en-US" sz="1800" u="sng" cap="none" strike="noStrike">
                <a:solidFill>
                  <a:schemeClr val="dk1"/>
                </a:solidFill>
                <a:latin typeface="Arial"/>
                <a:ea typeface="Arial"/>
                <a:cs typeface="Arial"/>
                <a:sym typeface="Arial"/>
              </a:rPr>
              <a:t>negative correlation.</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Individuals with </a:t>
            </a:r>
            <a:r>
              <a:rPr b="0" i="0" lang="en-US" sz="1800" u="sng" cap="none" strike="noStrike">
                <a:solidFill>
                  <a:schemeClr val="dk1"/>
                </a:solidFill>
                <a:latin typeface="Arial"/>
                <a:ea typeface="Arial"/>
                <a:cs typeface="Arial"/>
                <a:sym typeface="Arial"/>
              </a:rPr>
              <a:t>higher caffeine </a:t>
            </a:r>
            <a:r>
              <a:rPr b="0" i="0" lang="en-US" sz="1800" u="none" cap="none" strike="noStrike">
                <a:solidFill>
                  <a:schemeClr val="dk1"/>
                </a:solidFill>
                <a:latin typeface="Arial"/>
                <a:ea typeface="Arial"/>
                <a:cs typeface="Arial"/>
                <a:sym typeface="Arial"/>
              </a:rPr>
              <a:t>intake tend to </a:t>
            </a:r>
            <a:r>
              <a:rPr b="0" i="0" lang="en-US" sz="1800" u="sng" cap="none" strike="noStrike">
                <a:solidFill>
                  <a:schemeClr val="dk1"/>
                </a:solidFill>
                <a:latin typeface="Arial"/>
                <a:ea typeface="Arial"/>
                <a:cs typeface="Arial"/>
                <a:sym typeface="Arial"/>
              </a:rPr>
              <a:t>sleep fewer hours</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Highlights caffeine as a significant lifestyle factor affecting sleep quality.</a:t>
            </a:r>
            <a:endParaRPr b="0" i="0" sz="1400" u="none" cap="none" strike="noStrike">
              <a:solidFill>
                <a:srgbClr val="000000"/>
              </a:solidFill>
              <a:latin typeface="Arial"/>
              <a:ea typeface="Arial"/>
              <a:cs typeface="Arial"/>
              <a:sym typeface="Arial"/>
            </a:endParaRPr>
          </a:p>
        </p:txBody>
      </p:sp>
      <p:pic>
        <p:nvPicPr>
          <p:cNvPr id="472" name="Google Shape;472;p8"/>
          <p:cNvPicPr preferRelativeResize="0"/>
          <p:nvPr/>
        </p:nvPicPr>
        <p:blipFill rotWithShape="1">
          <a:blip r:embed="rId3">
            <a:alphaModFix/>
          </a:blip>
          <a:srcRect b="0" l="0" r="0" t="0"/>
          <a:stretch/>
        </p:blipFill>
        <p:spPr>
          <a:xfrm>
            <a:off x="919434" y="1456894"/>
            <a:ext cx="6701440" cy="4027466"/>
          </a:xfrm>
          <a:prstGeom prst="rect">
            <a:avLst/>
          </a:prstGeom>
          <a:noFill/>
          <a:ln>
            <a:noFill/>
          </a:ln>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9"/>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9" name="Google Shape;479;p9"/>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80" name="Google Shape;480;p9"/>
          <p:cNvGrpSpPr/>
          <p:nvPr/>
        </p:nvGrpSpPr>
        <p:grpSpPr>
          <a:xfrm>
            <a:off x="178379" y="5425831"/>
            <a:ext cx="699837" cy="576543"/>
            <a:chOff x="342900" y="171450"/>
            <a:chExt cx="1028700" cy="847468"/>
          </a:xfrm>
        </p:grpSpPr>
        <p:grpSp>
          <p:nvGrpSpPr>
            <p:cNvPr id="481" name="Google Shape;481;p9"/>
            <p:cNvGrpSpPr/>
            <p:nvPr/>
          </p:nvGrpSpPr>
          <p:grpSpPr>
            <a:xfrm>
              <a:off x="342900" y="504825"/>
              <a:ext cx="1028700" cy="180718"/>
              <a:chOff x="342900" y="495300"/>
              <a:chExt cx="1409700" cy="247650"/>
            </a:xfrm>
          </p:grpSpPr>
          <p:sp>
            <p:nvSpPr>
              <p:cNvPr id="482" name="Google Shape;482;p9"/>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3" name="Google Shape;483;p9"/>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4" name="Google Shape;484;p9"/>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5" name="Google Shape;485;p9"/>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86" name="Google Shape;486;p9"/>
            <p:cNvGrpSpPr/>
            <p:nvPr/>
          </p:nvGrpSpPr>
          <p:grpSpPr>
            <a:xfrm>
              <a:off x="342900" y="838200"/>
              <a:ext cx="1028700" cy="180718"/>
              <a:chOff x="342900" y="495300"/>
              <a:chExt cx="1409700" cy="247650"/>
            </a:xfrm>
          </p:grpSpPr>
          <p:sp>
            <p:nvSpPr>
              <p:cNvPr id="487" name="Google Shape;487;p9"/>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8" name="Google Shape;488;p9"/>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9" name="Google Shape;489;p9"/>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0" name="Google Shape;490;p9"/>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491" name="Google Shape;491;p9"/>
            <p:cNvGrpSpPr/>
            <p:nvPr/>
          </p:nvGrpSpPr>
          <p:grpSpPr>
            <a:xfrm>
              <a:off x="342900" y="171450"/>
              <a:ext cx="1028700" cy="180718"/>
              <a:chOff x="342900" y="495300"/>
              <a:chExt cx="1409700" cy="247650"/>
            </a:xfrm>
          </p:grpSpPr>
          <p:sp>
            <p:nvSpPr>
              <p:cNvPr id="492" name="Google Shape;492;p9"/>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3" name="Google Shape;493;p9"/>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4" name="Google Shape;494;p9"/>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5" name="Google Shape;495;p9"/>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496" name="Google Shape;496;p9"/>
          <p:cNvGrpSpPr/>
          <p:nvPr/>
        </p:nvGrpSpPr>
        <p:grpSpPr>
          <a:xfrm>
            <a:off x="10722184" y="257737"/>
            <a:ext cx="705853" cy="581499"/>
            <a:chOff x="342900" y="171450"/>
            <a:chExt cx="1028700" cy="847468"/>
          </a:xfrm>
        </p:grpSpPr>
        <p:grpSp>
          <p:nvGrpSpPr>
            <p:cNvPr id="497" name="Google Shape;497;p9"/>
            <p:cNvGrpSpPr/>
            <p:nvPr/>
          </p:nvGrpSpPr>
          <p:grpSpPr>
            <a:xfrm>
              <a:off x="342900" y="504825"/>
              <a:ext cx="1028700" cy="180718"/>
              <a:chOff x="342900" y="495300"/>
              <a:chExt cx="1409700" cy="247650"/>
            </a:xfrm>
          </p:grpSpPr>
          <p:sp>
            <p:nvSpPr>
              <p:cNvPr id="498" name="Google Shape;498;p9"/>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9" name="Google Shape;499;p9"/>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0" name="Google Shape;500;p9"/>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1" name="Google Shape;501;p9"/>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02" name="Google Shape;502;p9"/>
            <p:cNvGrpSpPr/>
            <p:nvPr/>
          </p:nvGrpSpPr>
          <p:grpSpPr>
            <a:xfrm>
              <a:off x="342900" y="838200"/>
              <a:ext cx="1028700" cy="180718"/>
              <a:chOff x="342900" y="495300"/>
              <a:chExt cx="1409700" cy="247650"/>
            </a:xfrm>
          </p:grpSpPr>
          <p:sp>
            <p:nvSpPr>
              <p:cNvPr id="503" name="Google Shape;503;p9"/>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4" name="Google Shape;504;p9"/>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5" name="Google Shape;505;p9"/>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6" name="Google Shape;506;p9"/>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07" name="Google Shape;507;p9"/>
            <p:cNvGrpSpPr/>
            <p:nvPr/>
          </p:nvGrpSpPr>
          <p:grpSpPr>
            <a:xfrm>
              <a:off x="342900" y="171450"/>
              <a:ext cx="1028700" cy="180718"/>
              <a:chOff x="342900" y="495300"/>
              <a:chExt cx="1409700" cy="247650"/>
            </a:xfrm>
          </p:grpSpPr>
          <p:sp>
            <p:nvSpPr>
              <p:cNvPr id="508" name="Google Shape;508;p9"/>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9" name="Google Shape;509;p9"/>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10" name="Google Shape;510;p9"/>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11" name="Google Shape;511;p9"/>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512" name="Google Shape;512;p9"/>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3" name="Google Shape;513;p9"/>
          <p:cNvSpPr txBox="1"/>
          <p:nvPr/>
        </p:nvSpPr>
        <p:spPr>
          <a:xfrm>
            <a:off x="649299" y="669233"/>
            <a:ext cx="1096512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solidFill>
                  <a:schemeClr val="dk1"/>
                </a:solidFill>
                <a:latin typeface="Arial"/>
                <a:ea typeface="Arial"/>
                <a:cs typeface="Arial"/>
                <a:sym typeface="Arial"/>
              </a:rPr>
              <a:t>Which lifestyle and health factors are most strongly correlated with sleep quality and sleep disorders?</a:t>
            </a:r>
            <a:endParaRPr b="1" i="1" sz="1600" u="none" cap="none" strike="noStrike">
              <a:solidFill>
                <a:schemeClr val="dk1"/>
              </a:solidFill>
              <a:latin typeface="Arial"/>
              <a:ea typeface="Arial"/>
              <a:cs typeface="Arial"/>
              <a:sym typeface="Arial"/>
            </a:endParaRPr>
          </a:p>
        </p:txBody>
      </p:sp>
      <p:sp>
        <p:nvSpPr>
          <p:cNvPr id="514" name="Google Shape;514;p9"/>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15" name="Google Shape;515;p9"/>
          <p:cNvSpPr/>
          <p:nvPr/>
        </p:nvSpPr>
        <p:spPr>
          <a:xfrm>
            <a:off x="7410820" y="1406844"/>
            <a:ext cx="4034045" cy="452431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FFFF00"/>
                </a:highlight>
                <a:latin typeface="Arial"/>
                <a:ea typeface="Arial"/>
                <a:cs typeface="Arial"/>
                <a:sym typeface="Arial"/>
              </a:rPr>
              <a:t>Sleep Duration </a:t>
            </a:r>
            <a:r>
              <a:rPr b="0" i="0" lang="en-US" sz="1800" u="none" cap="none" strike="noStrike">
                <a:solidFill>
                  <a:schemeClr val="dk1"/>
                </a:solidFill>
                <a:latin typeface="Arial"/>
                <a:ea typeface="Arial"/>
                <a:cs typeface="Arial"/>
                <a:sym typeface="Arial"/>
              </a:rPr>
              <a:t>is negatively correlated with </a:t>
            </a:r>
            <a:r>
              <a:rPr b="0" i="0" lang="en-US" sz="1800" u="none" cap="none" strike="noStrike">
                <a:solidFill>
                  <a:schemeClr val="dk1"/>
                </a:solidFill>
                <a:highlight>
                  <a:srgbClr val="FFFF00"/>
                </a:highlight>
                <a:latin typeface="Arial"/>
                <a:ea typeface="Arial"/>
                <a:cs typeface="Arial"/>
                <a:sym typeface="Arial"/>
              </a:rPr>
              <a:t>Stress Level </a:t>
            </a:r>
            <a:r>
              <a:rPr b="0" i="0" lang="en-US" sz="1800" u="none" cap="none" strike="noStrike">
                <a:solidFill>
                  <a:schemeClr val="dk1"/>
                </a:solidFill>
                <a:latin typeface="Arial"/>
                <a:ea typeface="Arial"/>
                <a:cs typeface="Arial"/>
                <a:sym typeface="Arial"/>
              </a:rPr>
              <a:t>(higher stress → less sleep)</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00FF00"/>
                </a:highlight>
                <a:latin typeface="Arial"/>
                <a:ea typeface="Arial"/>
                <a:cs typeface="Arial"/>
                <a:sym typeface="Arial"/>
              </a:rPr>
              <a:t>BMI</a:t>
            </a:r>
            <a:r>
              <a:rPr b="0" i="0" lang="en-US" sz="1800" u="none" cap="none" strike="noStrike">
                <a:solidFill>
                  <a:schemeClr val="dk1"/>
                </a:solidFill>
                <a:latin typeface="Arial"/>
                <a:ea typeface="Arial"/>
                <a:cs typeface="Arial"/>
                <a:sym typeface="Arial"/>
              </a:rPr>
              <a:t> is positively correlated with </a:t>
            </a:r>
            <a:r>
              <a:rPr b="0" i="0" lang="en-US" sz="1800" u="none" cap="none" strike="noStrike">
                <a:solidFill>
                  <a:schemeClr val="dk1"/>
                </a:solidFill>
                <a:highlight>
                  <a:srgbClr val="00FF00"/>
                </a:highlight>
                <a:latin typeface="Arial"/>
                <a:ea typeface="Arial"/>
                <a:cs typeface="Arial"/>
                <a:sym typeface="Arial"/>
              </a:rPr>
              <a:t>Sleep Disorder</a:t>
            </a:r>
            <a:r>
              <a:rPr b="0" i="0" lang="en-US" sz="1800" u="none" cap="none" strike="noStrike">
                <a:solidFill>
                  <a:schemeClr val="dk1"/>
                </a:solidFill>
                <a:latin typeface="Arial"/>
                <a:ea typeface="Arial"/>
                <a:cs typeface="Arial"/>
                <a:sym typeface="Arial"/>
              </a:rPr>
              <a:t>, indicating higher BMI may increase disorder risk</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00FFFF"/>
                </a:highlight>
                <a:latin typeface="Arial"/>
                <a:ea typeface="Arial"/>
                <a:cs typeface="Arial"/>
                <a:sym typeface="Arial"/>
              </a:rPr>
              <a:t>Physical Activity </a:t>
            </a:r>
            <a:r>
              <a:rPr b="0" i="0" lang="en-US" sz="1800" u="none" cap="none" strike="noStrike">
                <a:solidFill>
                  <a:schemeClr val="dk1"/>
                </a:solidFill>
                <a:latin typeface="Arial"/>
                <a:ea typeface="Arial"/>
                <a:cs typeface="Arial"/>
                <a:sym typeface="Arial"/>
              </a:rPr>
              <a:t>shows positive correlation with </a:t>
            </a:r>
            <a:r>
              <a:rPr b="0" i="0" lang="en-US" sz="1800" u="none" cap="none" strike="noStrike">
                <a:solidFill>
                  <a:schemeClr val="dk1"/>
                </a:solidFill>
                <a:highlight>
                  <a:srgbClr val="00FFFF"/>
                </a:highlight>
                <a:latin typeface="Arial"/>
                <a:ea typeface="Arial"/>
                <a:cs typeface="Arial"/>
                <a:sym typeface="Arial"/>
              </a:rPr>
              <a:t>Sleep Duration</a:t>
            </a:r>
            <a:r>
              <a:rPr b="0" i="0" lang="en-US" sz="1800" u="none" cap="none" strike="noStrike">
                <a:solidFill>
                  <a:schemeClr val="dk1"/>
                </a:solidFill>
                <a:latin typeface="Arial"/>
                <a:ea typeface="Arial"/>
                <a:cs typeface="Arial"/>
                <a:sym typeface="Arial"/>
              </a:rPr>
              <a:t>, suggesting active people sleep better</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Alcohol Consumption has a moderate correlation with poorer sleep outcomes</a:t>
            </a:r>
            <a:endParaRPr b="0" i="0" sz="1400" u="none" cap="none" strike="noStrike">
              <a:solidFill>
                <a:srgbClr val="000000"/>
              </a:solidFill>
              <a:latin typeface="Arial"/>
              <a:ea typeface="Arial"/>
              <a:cs typeface="Arial"/>
              <a:sym typeface="Arial"/>
            </a:endParaRPr>
          </a:p>
        </p:txBody>
      </p:sp>
      <p:pic>
        <p:nvPicPr>
          <p:cNvPr id="516" name="Google Shape;516;p9"/>
          <p:cNvPicPr preferRelativeResize="0"/>
          <p:nvPr/>
        </p:nvPicPr>
        <p:blipFill rotWithShape="1">
          <a:blip r:embed="rId3">
            <a:alphaModFix/>
          </a:blip>
          <a:srcRect b="0" l="0" r="0" t="0"/>
          <a:stretch/>
        </p:blipFill>
        <p:spPr>
          <a:xfrm>
            <a:off x="805708" y="1623903"/>
            <a:ext cx="6485322" cy="4090199"/>
          </a:xfrm>
          <a:prstGeom prst="rect">
            <a:avLst/>
          </a:prstGeom>
          <a:noFill/>
          <a:ln>
            <a:noFill/>
          </a:ln>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0"/>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10"/>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24" name="Google Shape;524;p10"/>
          <p:cNvGrpSpPr/>
          <p:nvPr/>
        </p:nvGrpSpPr>
        <p:grpSpPr>
          <a:xfrm>
            <a:off x="178379" y="5425831"/>
            <a:ext cx="699837" cy="576543"/>
            <a:chOff x="342900" y="171450"/>
            <a:chExt cx="1028700" cy="847468"/>
          </a:xfrm>
        </p:grpSpPr>
        <p:grpSp>
          <p:nvGrpSpPr>
            <p:cNvPr id="525" name="Google Shape;525;p10"/>
            <p:cNvGrpSpPr/>
            <p:nvPr/>
          </p:nvGrpSpPr>
          <p:grpSpPr>
            <a:xfrm>
              <a:off x="342900" y="504825"/>
              <a:ext cx="1028700" cy="180718"/>
              <a:chOff x="342900" y="495300"/>
              <a:chExt cx="1409700" cy="247650"/>
            </a:xfrm>
          </p:grpSpPr>
          <p:sp>
            <p:nvSpPr>
              <p:cNvPr id="526" name="Google Shape;526;p10"/>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27" name="Google Shape;527;p10"/>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28" name="Google Shape;528;p10"/>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29" name="Google Shape;529;p10"/>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30" name="Google Shape;530;p10"/>
            <p:cNvGrpSpPr/>
            <p:nvPr/>
          </p:nvGrpSpPr>
          <p:grpSpPr>
            <a:xfrm>
              <a:off x="342900" y="838200"/>
              <a:ext cx="1028700" cy="180718"/>
              <a:chOff x="342900" y="495300"/>
              <a:chExt cx="1409700" cy="247650"/>
            </a:xfrm>
          </p:grpSpPr>
          <p:sp>
            <p:nvSpPr>
              <p:cNvPr id="531" name="Google Shape;531;p10"/>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2" name="Google Shape;532;p10"/>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3" name="Google Shape;533;p10"/>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4" name="Google Shape;534;p10"/>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35" name="Google Shape;535;p10"/>
            <p:cNvGrpSpPr/>
            <p:nvPr/>
          </p:nvGrpSpPr>
          <p:grpSpPr>
            <a:xfrm>
              <a:off x="342900" y="171450"/>
              <a:ext cx="1028700" cy="180718"/>
              <a:chOff x="342900" y="495300"/>
              <a:chExt cx="1409700" cy="247650"/>
            </a:xfrm>
          </p:grpSpPr>
          <p:sp>
            <p:nvSpPr>
              <p:cNvPr id="536" name="Google Shape;536;p10"/>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7" name="Google Shape;537;p10"/>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8" name="Google Shape;538;p10"/>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9" name="Google Shape;539;p10"/>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540" name="Google Shape;540;p10"/>
          <p:cNvGrpSpPr/>
          <p:nvPr/>
        </p:nvGrpSpPr>
        <p:grpSpPr>
          <a:xfrm>
            <a:off x="10722184" y="257737"/>
            <a:ext cx="705853" cy="581499"/>
            <a:chOff x="342900" y="171450"/>
            <a:chExt cx="1028700" cy="847468"/>
          </a:xfrm>
        </p:grpSpPr>
        <p:grpSp>
          <p:nvGrpSpPr>
            <p:cNvPr id="541" name="Google Shape;541;p10"/>
            <p:cNvGrpSpPr/>
            <p:nvPr/>
          </p:nvGrpSpPr>
          <p:grpSpPr>
            <a:xfrm>
              <a:off x="342900" y="504825"/>
              <a:ext cx="1028700" cy="180718"/>
              <a:chOff x="342900" y="495300"/>
              <a:chExt cx="1409700" cy="247650"/>
            </a:xfrm>
          </p:grpSpPr>
          <p:sp>
            <p:nvSpPr>
              <p:cNvPr id="542" name="Google Shape;542;p10"/>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3" name="Google Shape;543;p10"/>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4" name="Google Shape;544;p10"/>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5" name="Google Shape;545;p10"/>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46" name="Google Shape;546;p10"/>
            <p:cNvGrpSpPr/>
            <p:nvPr/>
          </p:nvGrpSpPr>
          <p:grpSpPr>
            <a:xfrm>
              <a:off x="342900" y="838200"/>
              <a:ext cx="1028700" cy="180718"/>
              <a:chOff x="342900" y="495300"/>
              <a:chExt cx="1409700" cy="247650"/>
            </a:xfrm>
          </p:grpSpPr>
          <p:sp>
            <p:nvSpPr>
              <p:cNvPr id="547" name="Google Shape;547;p10"/>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8" name="Google Shape;548;p10"/>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9" name="Google Shape;549;p10"/>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0" name="Google Shape;550;p10"/>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51" name="Google Shape;551;p10"/>
            <p:cNvGrpSpPr/>
            <p:nvPr/>
          </p:nvGrpSpPr>
          <p:grpSpPr>
            <a:xfrm>
              <a:off x="342900" y="171450"/>
              <a:ext cx="1028700" cy="180718"/>
              <a:chOff x="342900" y="495300"/>
              <a:chExt cx="1409700" cy="247650"/>
            </a:xfrm>
          </p:grpSpPr>
          <p:sp>
            <p:nvSpPr>
              <p:cNvPr id="552" name="Google Shape;552;p10"/>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3" name="Google Shape;553;p10"/>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4" name="Google Shape;554;p10"/>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5" name="Google Shape;555;p10"/>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556" name="Google Shape;556;p10"/>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7" name="Google Shape;557;p10"/>
          <p:cNvSpPr txBox="1"/>
          <p:nvPr/>
        </p:nvSpPr>
        <p:spPr>
          <a:xfrm>
            <a:off x="657899" y="529970"/>
            <a:ext cx="1096512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Arial"/>
                <a:ea typeface="Arial"/>
                <a:cs typeface="Arial"/>
                <a:sym typeface="Arial"/>
              </a:rPr>
              <a:t>Does Occupation Influence Sleep Quality?</a:t>
            </a:r>
            <a:endParaRPr b="1" i="1" sz="2000" u="none" cap="none" strike="noStrike">
              <a:solidFill>
                <a:schemeClr val="dk1"/>
              </a:solidFill>
              <a:latin typeface="Arial"/>
              <a:ea typeface="Arial"/>
              <a:cs typeface="Arial"/>
              <a:sym typeface="Arial"/>
            </a:endParaRPr>
          </a:p>
        </p:txBody>
      </p:sp>
      <p:sp>
        <p:nvSpPr>
          <p:cNvPr id="558" name="Google Shape;558;p10"/>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59" name="Google Shape;559;p10"/>
          <p:cNvSpPr/>
          <p:nvPr/>
        </p:nvSpPr>
        <p:spPr>
          <a:xfrm>
            <a:off x="677950" y="5299367"/>
            <a:ext cx="11123116" cy="92333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Certain occupations, such as Healthcare, show</a:t>
            </a:r>
            <a:r>
              <a:rPr lang="en-US" sz="1800" u="sng">
                <a:solidFill>
                  <a:schemeClr val="dk1"/>
                </a:solidFill>
              </a:rPr>
              <a:t> </a:t>
            </a:r>
            <a:r>
              <a:rPr b="0" i="0" lang="en-US" sz="1800" u="sng" cap="none" strike="noStrike">
                <a:solidFill>
                  <a:schemeClr val="dk1"/>
                </a:solidFill>
                <a:latin typeface="Arial"/>
                <a:ea typeface="Arial"/>
                <a:cs typeface="Arial"/>
                <a:sym typeface="Arial"/>
              </a:rPr>
              <a:t>more variable sleep duration</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Engineer</a:t>
            </a:r>
            <a:r>
              <a:rPr b="0" i="0" lang="en-US" sz="1800" u="none" cap="none" strike="noStrike">
                <a:solidFill>
                  <a:schemeClr val="dk1"/>
                </a:solidFill>
                <a:latin typeface="Arial"/>
                <a:ea typeface="Arial"/>
                <a:cs typeface="Arial"/>
                <a:sym typeface="Arial"/>
              </a:rPr>
              <a:t>s and </a:t>
            </a:r>
            <a:r>
              <a:rPr lang="en-US" sz="1800">
                <a:solidFill>
                  <a:schemeClr val="dk1"/>
                </a:solidFill>
              </a:rPr>
              <a:t>lawyers</a:t>
            </a:r>
            <a:r>
              <a:rPr b="0" i="0" lang="en-US" sz="1800" u="none" cap="none" strike="noStrike">
                <a:solidFill>
                  <a:schemeClr val="dk1"/>
                </a:solidFill>
                <a:latin typeface="Arial"/>
                <a:ea typeface="Arial"/>
                <a:cs typeface="Arial"/>
                <a:sym typeface="Arial"/>
              </a:rPr>
              <a:t> tend to have </a:t>
            </a:r>
            <a:r>
              <a:rPr b="0" i="0" lang="en-US" sz="1800" u="sng" cap="none" strike="noStrike">
                <a:solidFill>
                  <a:schemeClr val="dk1"/>
                </a:solidFill>
                <a:latin typeface="Arial"/>
                <a:ea typeface="Arial"/>
                <a:cs typeface="Arial"/>
                <a:sym typeface="Arial"/>
              </a:rPr>
              <a:t>longer and more consistent sleep</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This indicates that </a:t>
            </a:r>
            <a:r>
              <a:rPr b="0" i="0" lang="en-US" sz="1800" u="sng" cap="none" strike="noStrike">
                <a:solidFill>
                  <a:schemeClr val="dk1"/>
                </a:solidFill>
                <a:latin typeface="Arial"/>
                <a:ea typeface="Arial"/>
                <a:cs typeface="Arial"/>
                <a:sym typeface="Arial"/>
              </a:rPr>
              <a:t>job type and work stress may influence sleep quality</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560" name="Google Shape;560;p10"/>
          <p:cNvPicPr preferRelativeResize="0"/>
          <p:nvPr/>
        </p:nvPicPr>
        <p:blipFill rotWithShape="1">
          <a:blip r:embed="rId3">
            <a:alphaModFix/>
          </a:blip>
          <a:srcRect b="0" l="0" r="0" t="0"/>
          <a:stretch/>
        </p:blipFill>
        <p:spPr>
          <a:xfrm>
            <a:off x="1763544" y="1092750"/>
            <a:ext cx="8664908" cy="4206624"/>
          </a:xfrm>
          <a:prstGeom prst="rect">
            <a:avLst/>
          </a:prstGeom>
          <a:noFill/>
          <a:ln>
            <a:noFill/>
          </a:ln>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11"/>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 name="Google Shape;566;p11"/>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67" name="Google Shape;567;p11"/>
          <p:cNvGrpSpPr/>
          <p:nvPr/>
        </p:nvGrpSpPr>
        <p:grpSpPr>
          <a:xfrm>
            <a:off x="178379" y="5425831"/>
            <a:ext cx="699837" cy="576543"/>
            <a:chOff x="342900" y="171450"/>
            <a:chExt cx="1028700" cy="847468"/>
          </a:xfrm>
        </p:grpSpPr>
        <p:grpSp>
          <p:nvGrpSpPr>
            <p:cNvPr id="568" name="Google Shape;568;p11"/>
            <p:cNvGrpSpPr/>
            <p:nvPr/>
          </p:nvGrpSpPr>
          <p:grpSpPr>
            <a:xfrm>
              <a:off x="342900" y="504825"/>
              <a:ext cx="1028700" cy="180718"/>
              <a:chOff x="342900" y="495300"/>
              <a:chExt cx="1409700" cy="247650"/>
            </a:xfrm>
          </p:grpSpPr>
          <p:sp>
            <p:nvSpPr>
              <p:cNvPr id="569" name="Google Shape;569;p1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0" name="Google Shape;570;p1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1" name="Google Shape;571;p1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2" name="Google Shape;572;p1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73" name="Google Shape;573;p11"/>
            <p:cNvGrpSpPr/>
            <p:nvPr/>
          </p:nvGrpSpPr>
          <p:grpSpPr>
            <a:xfrm>
              <a:off x="342900" y="838200"/>
              <a:ext cx="1028700" cy="180718"/>
              <a:chOff x="342900" y="495300"/>
              <a:chExt cx="1409700" cy="247650"/>
            </a:xfrm>
          </p:grpSpPr>
          <p:sp>
            <p:nvSpPr>
              <p:cNvPr id="574" name="Google Shape;574;p1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5" name="Google Shape;575;p1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6" name="Google Shape;576;p1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7" name="Google Shape;577;p1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78" name="Google Shape;578;p11"/>
            <p:cNvGrpSpPr/>
            <p:nvPr/>
          </p:nvGrpSpPr>
          <p:grpSpPr>
            <a:xfrm>
              <a:off x="342900" y="171450"/>
              <a:ext cx="1028700" cy="180718"/>
              <a:chOff x="342900" y="495300"/>
              <a:chExt cx="1409700" cy="247650"/>
            </a:xfrm>
          </p:grpSpPr>
          <p:sp>
            <p:nvSpPr>
              <p:cNvPr id="579" name="Google Shape;579;p1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0" name="Google Shape;580;p1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1" name="Google Shape;581;p1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2" name="Google Shape;582;p1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583" name="Google Shape;583;p11"/>
          <p:cNvGrpSpPr/>
          <p:nvPr/>
        </p:nvGrpSpPr>
        <p:grpSpPr>
          <a:xfrm>
            <a:off x="10722184" y="257737"/>
            <a:ext cx="705853" cy="581499"/>
            <a:chOff x="342900" y="171450"/>
            <a:chExt cx="1028700" cy="847468"/>
          </a:xfrm>
        </p:grpSpPr>
        <p:grpSp>
          <p:nvGrpSpPr>
            <p:cNvPr id="584" name="Google Shape;584;p11"/>
            <p:cNvGrpSpPr/>
            <p:nvPr/>
          </p:nvGrpSpPr>
          <p:grpSpPr>
            <a:xfrm>
              <a:off x="342900" y="504825"/>
              <a:ext cx="1028700" cy="180718"/>
              <a:chOff x="342900" y="495300"/>
              <a:chExt cx="1409700" cy="247650"/>
            </a:xfrm>
          </p:grpSpPr>
          <p:sp>
            <p:nvSpPr>
              <p:cNvPr id="585" name="Google Shape;585;p1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6" name="Google Shape;586;p1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7" name="Google Shape;587;p1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8" name="Google Shape;588;p1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89" name="Google Shape;589;p11"/>
            <p:cNvGrpSpPr/>
            <p:nvPr/>
          </p:nvGrpSpPr>
          <p:grpSpPr>
            <a:xfrm>
              <a:off x="342900" y="838200"/>
              <a:ext cx="1028700" cy="180718"/>
              <a:chOff x="342900" y="495300"/>
              <a:chExt cx="1409700" cy="247650"/>
            </a:xfrm>
          </p:grpSpPr>
          <p:sp>
            <p:nvSpPr>
              <p:cNvPr id="590" name="Google Shape;590;p1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1" name="Google Shape;591;p1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2" name="Google Shape;592;p1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3" name="Google Shape;593;p1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94" name="Google Shape;594;p11"/>
            <p:cNvGrpSpPr/>
            <p:nvPr/>
          </p:nvGrpSpPr>
          <p:grpSpPr>
            <a:xfrm>
              <a:off x="342900" y="171450"/>
              <a:ext cx="1028700" cy="180718"/>
              <a:chOff x="342900" y="495300"/>
              <a:chExt cx="1409700" cy="247650"/>
            </a:xfrm>
          </p:grpSpPr>
          <p:sp>
            <p:nvSpPr>
              <p:cNvPr id="595" name="Google Shape;595;p1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6" name="Google Shape;596;p1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7" name="Google Shape;597;p1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8" name="Google Shape;598;p1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599" name="Google Shape;599;p11"/>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11"/>
          <p:cNvSpPr txBox="1"/>
          <p:nvPr/>
        </p:nvSpPr>
        <p:spPr>
          <a:xfrm>
            <a:off x="1731028" y="2894521"/>
            <a:ext cx="918510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Can We Quantify Overall Lifestyle Risk?</a:t>
            </a:r>
            <a:endParaRPr b="1" i="0" sz="3600" u="none" cap="none" strike="noStrike">
              <a:solidFill>
                <a:schemeClr val="dk1"/>
              </a:solidFill>
              <a:latin typeface="Arial"/>
              <a:ea typeface="Arial"/>
              <a:cs typeface="Arial"/>
              <a:sym typeface="Arial"/>
            </a:endParaRPr>
          </a:p>
        </p:txBody>
      </p:sp>
      <p:sp>
        <p:nvSpPr>
          <p:cNvPr id="601" name="Google Shape;601;p11"/>
          <p:cNvSpPr/>
          <p:nvPr/>
        </p:nvSpPr>
        <p:spPr>
          <a:xfrm flipH="1" rot="-839749">
            <a:off x="5113012" y="1757175"/>
            <a:ext cx="721932" cy="721932"/>
          </a:xfrm>
          <a:prstGeom prst="ellipse">
            <a:avLst/>
          </a:prstGeom>
          <a:gradFill>
            <a:gsLst>
              <a:gs pos="0">
                <a:srgbClr val="EE8B11"/>
              </a:gs>
              <a:gs pos="9000">
                <a:srgbClr val="EE8B11"/>
              </a:gs>
              <a:gs pos="100000">
                <a:srgbClr val="FFFFFF">
                  <a:alpha val="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2" name="Google Shape;602;p11"/>
          <p:cNvSpPr txBox="1"/>
          <p:nvPr/>
        </p:nvSpPr>
        <p:spPr>
          <a:xfrm>
            <a:off x="1671299" y="1852925"/>
            <a:ext cx="40842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2F53BA"/>
              </a:buClr>
              <a:buSzPts val="4800"/>
              <a:buFont typeface="Arial"/>
              <a:buNone/>
            </a:pPr>
            <a:r>
              <a:rPr b="1" i="0" lang="en-US" sz="4800" u="none" cap="none" strike="noStrike">
                <a:solidFill>
                  <a:srgbClr val="2F53BA"/>
                </a:solidFill>
                <a:latin typeface="Arial"/>
                <a:ea typeface="Arial"/>
                <a:cs typeface="Arial"/>
                <a:sym typeface="Arial"/>
              </a:rPr>
              <a:t>PART THREE</a:t>
            </a:r>
            <a:endParaRPr b="1" i="0" sz="4800" u="none" cap="none" strike="noStrike">
              <a:solidFill>
                <a:srgbClr val="2F53BA"/>
              </a:solidFill>
              <a:latin typeface="Arial"/>
              <a:ea typeface="Arial"/>
              <a:cs typeface="Arial"/>
              <a:sym typeface="Arial"/>
            </a:endParaRPr>
          </a:p>
        </p:txBody>
      </p:sp>
      <p:grpSp>
        <p:nvGrpSpPr>
          <p:cNvPr id="603" name="Google Shape;603;p11"/>
          <p:cNvGrpSpPr/>
          <p:nvPr/>
        </p:nvGrpSpPr>
        <p:grpSpPr>
          <a:xfrm>
            <a:off x="10159895" y="4066992"/>
            <a:ext cx="1032510" cy="133985"/>
            <a:chOff x="15823" y="7432"/>
            <a:chExt cx="1626" cy="211"/>
          </a:xfrm>
        </p:grpSpPr>
        <p:sp>
          <p:nvSpPr>
            <p:cNvPr id="604" name="Google Shape;604;p11"/>
            <p:cNvSpPr/>
            <p:nvPr/>
          </p:nvSpPr>
          <p:spPr>
            <a:xfrm flipH="1" rot="10800000">
              <a:off x="15823"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5" name="Google Shape;605;p11"/>
            <p:cNvSpPr/>
            <p:nvPr/>
          </p:nvSpPr>
          <p:spPr>
            <a:xfrm flipH="1" rot="10800000">
              <a:off x="16107"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6" name="Google Shape;606;p11"/>
            <p:cNvSpPr/>
            <p:nvPr/>
          </p:nvSpPr>
          <p:spPr>
            <a:xfrm flipH="1" rot="10800000">
              <a:off x="16388"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7" name="Google Shape;607;p11"/>
            <p:cNvSpPr/>
            <p:nvPr/>
          </p:nvSpPr>
          <p:spPr>
            <a:xfrm flipH="1" rot="10800000">
              <a:off x="16673"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8" name="Google Shape;608;p11"/>
            <p:cNvSpPr/>
            <p:nvPr/>
          </p:nvSpPr>
          <p:spPr>
            <a:xfrm flipH="1" rot="10800000">
              <a:off x="16957"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9" name="Google Shape;609;p11"/>
            <p:cNvSpPr/>
            <p:nvPr/>
          </p:nvSpPr>
          <p:spPr>
            <a:xfrm flipH="1" rot="10800000">
              <a:off x="17238"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2"/>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6" name="Google Shape;616;p12"/>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17" name="Google Shape;617;p12"/>
          <p:cNvGrpSpPr/>
          <p:nvPr/>
        </p:nvGrpSpPr>
        <p:grpSpPr>
          <a:xfrm>
            <a:off x="178379" y="5425831"/>
            <a:ext cx="699837" cy="576543"/>
            <a:chOff x="342900" y="171450"/>
            <a:chExt cx="1028700" cy="847468"/>
          </a:xfrm>
        </p:grpSpPr>
        <p:grpSp>
          <p:nvGrpSpPr>
            <p:cNvPr id="618" name="Google Shape;618;p12"/>
            <p:cNvGrpSpPr/>
            <p:nvPr/>
          </p:nvGrpSpPr>
          <p:grpSpPr>
            <a:xfrm>
              <a:off x="342900" y="504825"/>
              <a:ext cx="1028700" cy="180718"/>
              <a:chOff x="342900" y="495300"/>
              <a:chExt cx="1409700" cy="247650"/>
            </a:xfrm>
          </p:grpSpPr>
          <p:sp>
            <p:nvSpPr>
              <p:cNvPr id="619" name="Google Shape;619;p1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0" name="Google Shape;620;p1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1" name="Google Shape;621;p1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2" name="Google Shape;622;p1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23" name="Google Shape;623;p12"/>
            <p:cNvGrpSpPr/>
            <p:nvPr/>
          </p:nvGrpSpPr>
          <p:grpSpPr>
            <a:xfrm>
              <a:off x="342900" y="838200"/>
              <a:ext cx="1028700" cy="180718"/>
              <a:chOff x="342900" y="495300"/>
              <a:chExt cx="1409700" cy="247650"/>
            </a:xfrm>
          </p:grpSpPr>
          <p:sp>
            <p:nvSpPr>
              <p:cNvPr id="624" name="Google Shape;624;p1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5" name="Google Shape;625;p1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6" name="Google Shape;626;p1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7" name="Google Shape;627;p1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28" name="Google Shape;628;p12"/>
            <p:cNvGrpSpPr/>
            <p:nvPr/>
          </p:nvGrpSpPr>
          <p:grpSpPr>
            <a:xfrm>
              <a:off x="342900" y="171450"/>
              <a:ext cx="1028700" cy="180718"/>
              <a:chOff x="342900" y="495300"/>
              <a:chExt cx="1409700" cy="247650"/>
            </a:xfrm>
          </p:grpSpPr>
          <p:sp>
            <p:nvSpPr>
              <p:cNvPr id="629" name="Google Shape;629;p1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0" name="Google Shape;630;p1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1" name="Google Shape;631;p1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2" name="Google Shape;632;p1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633" name="Google Shape;633;p12"/>
          <p:cNvGrpSpPr/>
          <p:nvPr/>
        </p:nvGrpSpPr>
        <p:grpSpPr>
          <a:xfrm>
            <a:off x="10722184" y="257737"/>
            <a:ext cx="705853" cy="581499"/>
            <a:chOff x="342900" y="171450"/>
            <a:chExt cx="1028700" cy="847468"/>
          </a:xfrm>
        </p:grpSpPr>
        <p:grpSp>
          <p:nvGrpSpPr>
            <p:cNvPr id="634" name="Google Shape;634;p12"/>
            <p:cNvGrpSpPr/>
            <p:nvPr/>
          </p:nvGrpSpPr>
          <p:grpSpPr>
            <a:xfrm>
              <a:off x="342900" y="504825"/>
              <a:ext cx="1028700" cy="180718"/>
              <a:chOff x="342900" y="495300"/>
              <a:chExt cx="1409700" cy="247650"/>
            </a:xfrm>
          </p:grpSpPr>
          <p:sp>
            <p:nvSpPr>
              <p:cNvPr id="635" name="Google Shape;635;p1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6" name="Google Shape;636;p1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7" name="Google Shape;637;p1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8" name="Google Shape;638;p1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39" name="Google Shape;639;p12"/>
            <p:cNvGrpSpPr/>
            <p:nvPr/>
          </p:nvGrpSpPr>
          <p:grpSpPr>
            <a:xfrm>
              <a:off x="342900" y="838200"/>
              <a:ext cx="1028700" cy="180718"/>
              <a:chOff x="342900" y="495300"/>
              <a:chExt cx="1409700" cy="247650"/>
            </a:xfrm>
          </p:grpSpPr>
          <p:sp>
            <p:nvSpPr>
              <p:cNvPr id="640" name="Google Shape;640;p1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1" name="Google Shape;641;p1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2" name="Google Shape;642;p1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3" name="Google Shape;643;p1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44" name="Google Shape;644;p12"/>
            <p:cNvGrpSpPr/>
            <p:nvPr/>
          </p:nvGrpSpPr>
          <p:grpSpPr>
            <a:xfrm>
              <a:off x="342900" y="171450"/>
              <a:ext cx="1028700" cy="180718"/>
              <a:chOff x="342900" y="495300"/>
              <a:chExt cx="1409700" cy="247650"/>
            </a:xfrm>
          </p:grpSpPr>
          <p:sp>
            <p:nvSpPr>
              <p:cNvPr id="645" name="Google Shape;645;p1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6" name="Google Shape;646;p1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7" name="Google Shape;647;p1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8" name="Google Shape;648;p1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649" name="Google Shape;649;p12"/>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12"/>
          <p:cNvSpPr txBox="1"/>
          <p:nvPr/>
        </p:nvSpPr>
        <p:spPr>
          <a:xfrm>
            <a:off x="657899" y="529970"/>
            <a:ext cx="1096512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chemeClr val="dk1"/>
                </a:solidFill>
                <a:latin typeface="Arial"/>
                <a:ea typeface="Arial"/>
                <a:cs typeface="Arial"/>
                <a:sym typeface="Arial"/>
              </a:rPr>
              <a:t>Can we create a </a:t>
            </a:r>
            <a:r>
              <a:rPr b="1" i="1" lang="en-US" sz="1800" u="none" cap="none" strike="noStrike">
                <a:solidFill>
                  <a:schemeClr val="dk1"/>
                </a:solidFill>
                <a:highlight>
                  <a:srgbClr val="FECB26"/>
                </a:highlight>
                <a:latin typeface="Arial"/>
                <a:ea typeface="Arial"/>
                <a:cs typeface="Arial"/>
                <a:sym typeface="Arial"/>
              </a:rPr>
              <a:t>combined risk score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chemeClr val="dk1"/>
                </a:solidFill>
                <a:latin typeface="Arial"/>
                <a:ea typeface="Arial"/>
                <a:cs typeface="Arial"/>
                <a:sym typeface="Arial"/>
              </a:rPr>
              <a:t>to quantify how lifestyle and behavioral factors disrupt circadian rhythm?</a:t>
            </a:r>
            <a:endParaRPr b="1" i="1" sz="1800" u="none" cap="none" strike="noStrike">
              <a:solidFill>
                <a:schemeClr val="dk1"/>
              </a:solidFill>
              <a:latin typeface="Arial"/>
              <a:ea typeface="Arial"/>
              <a:cs typeface="Arial"/>
              <a:sym typeface="Arial"/>
            </a:endParaRPr>
          </a:p>
        </p:txBody>
      </p:sp>
      <p:sp>
        <p:nvSpPr>
          <p:cNvPr id="651" name="Google Shape;651;p12"/>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652" name="Google Shape;652;p12"/>
          <p:cNvSpPr/>
          <p:nvPr/>
        </p:nvSpPr>
        <p:spPr>
          <a:xfrm>
            <a:off x="7698712" y="1227337"/>
            <a:ext cx="3824949" cy="424731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Circadian Risk Score is based on Stress, Caffeine, Screen Time, and Work Hours.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Scores show a normal-like distribution, centered around moderate risk.</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Most individuals fall in the 4.5–6.0 range → common lifestyle risk levels.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Few individuals show very low or very high risk, suitable for targeted intervention.</a:t>
            </a:r>
            <a:endParaRPr b="0" i="0" sz="1400" u="none" cap="none" strike="noStrike">
              <a:solidFill>
                <a:srgbClr val="000000"/>
              </a:solidFill>
              <a:latin typeface="Arial"/>
              <a:ea typeface="Arial"/>
              <a:cs typeface="Arial"/>
              <a:sym typeface="Arial"/>
            </a:endParaRPr>
          </a:p>
        </p:txBody>
      </p:sp>
      <p:sp>
        <p:nvSpPr>
          <p:cNvPr id="653" name="Google Shape;653;p12"/>
          <p:cNvSpPr/>
          <p:nvPr/>
        </p:nvSpPr>
        <p:spPr>
          <a:xfrm>
            <a:off x="1335216" y="5318931"/>
            <a:ext cx="7196938"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7030A0"/>
                </a:solidFill>
                <a:latin typeface="Arial"/>
                <a:ea typeface="Arial"/>
                <a:cs typeface="Arial"/>
                <a:sym typeface="Arial"/>
              </a:rPr>
              <a:t>Circadian Risk Score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7030A0"/>
                </a:solidFill>
                <a:latin typeface="Arial"/>
                <a:ea typeface="Arial"/>
                <a:cs typeface="Arial"/>
                <a:sym typeface="Arial"/>
              </a:rPr>
              <a:t>0.3Stress + 0.25Caffeine + 0.25ScreenTime + 0.2WorkHours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1" sz="1600" u="none" cap="none" strike="noStrike">
              <a:solidFill>
                <a:srgbClr val="7030A0"/>
              </a:solidFill>
              <a:latin typeface="Arial"/>
              <a:ea typeface="Arial"/>
              <a:cs typeface="Arial"/>
              <a:sym typeface="Arial"/>
            </a:endParaRPr>
          </a:p>
        </p:txBody>
      </p:sp>
      <p:pic>
        <p:nvPicPr>
          <p:cNvPr id="654" name="Google Shape;654;p12"/>
          <p:cNvPicPr preferRelativeResize="0"/>
          <p:nvPr/>
        </p:nvPicPr>
        <p:blipFill rotWithShape="1">
          <a:blip r:embed="rId3">
            <a:alphaModFix/>
          </a:blip>
          <a:srcRect b="0" l="0" r="0" t="0"/>
          <a:stretch/>
        </p:blipFill>
        <p:spPr>
          <a:xfrm>
            <a:off x="1047974" y="1397223"/>
            <a:ext cx="6380877" cy="3809478"/>
          </a:xfrm>
          <a:prstGeom prst="rect">
            <a:avLst/>
          </a:prstGeom>
          <a:noFill/>
          <a:ln>
            <a:noFill/>
          </a:ln>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3"/>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p13"/>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62" name="Google Shape;662;p13"/>
          <p:cNvGrpSpPr/>
          <p:nvPr/>
        </p:nvGrpSpPr>
        <p:grpSpPr>
          <a:xfrm>
            <a:off x="178379" y="5425831"/>
            <a:ext cx="699837" cy="576543"/>
            <a:chOff x="342900" y="171450"/>
            <a:chExt cx="1028700" cy="847468"/>
          </a:xfrm>
        </p:grpSpPr>
        <p:grpSp>
          <p:nvGrpSpPr>
            <p:cNvPr id="663" name="Google Shape;663;p13"/>
            <p:cNvGrpSpPr/>
            <p:nvPr/>
          </p:nvGrpSpPr>
          <p:grpSpPr>
            <a:xfrm>
              <a:off x="342900" y="504825"/>
              <a:ext cx="1028700" cy="180718"/>
              <a:chOff x="342900" y="495300"/>
              <a:chExt cx="1409700" cy="247650"/>
            </a:xfrm>
          </p:grpSpPr>
          <p:sp>
            <p:nvSpPr>
              <p:cNvPr id="664" name="Google Shape;664;p1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5" name="Google Shape;665;p1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6" name="Google Shape;666;p1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7" name="Google Shape;667;p1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68" name="Google Shape;668;p13"/>
            <p:cNvGrpSpPr/>
            <p:nvPr/>
          </p:nvGrpSpPr>
          <p:grpSpPr>
            <a:xfrm>
              <a:off x="342900" y="838200"/>
              <a:ext cx="1028700" cy="180718"/>
              <a:chOff x="342900" y="495300"/>
              <a:chExt cx="1409700" cy="247650"/>
            </a:xfrm>
          </p:grpSpPr>
          <p:sp>
            <p:nvSpPr>
              <p:cNvPr id="669" name="Google Shape;669;p1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0" name="Google Shape;670;p1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1" name="Google Shape;671;p1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2" name="Google Shape;672;p1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73" name="Google Shape;673;p13"/>
            <p:cNvGrpSpPr/>
            <p:nvPr/>
          </p:nvGrpSpPr>
          <p:grpSpPr>
            <a:xfrm>
              <a:off x="342900" y="171450"/>
              <a:ext cx="1028700" cy="180718"/>
              <a:chOff x="342900" y="495300"/>
              <a:chExt cx="1409700" cy="247650"/>
            </a:xfrm>
          </p:grpSpPr>
          <p:sp>
            <p:nvSpPr>
              <p:cNvPr id="674" name="Google Shape;674;p1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5" name="Google Shape;675;p1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6" name="Google Shape;676;p1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7" name="Google Shape;677;p1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678" name="Google Shape;678;p13"/>
          <p:cNvGrpSpPr/>
          <p:nvPr/>
        </p:nvGrpSpPr>
        <p:grpSpPr>
          <a:xfrm>
            <a:off x="10722184" y="257737"/>
            <a:ext cx="705853" cy="581499"/>
            <a:chOff x="342900" y="171450"/>
            <a:chExt cx="1028700" cy="847468"/>
          </a:xfrm>
        </p:grpSpPr>
        <p:grpSp>
          <p:nvGrpSpPr>
            <p:cNvPr id="679" name="Google Shape;679;p13"/>
            <p:cNvGrpSpPr/>
            <p:nvPr/>
          </p:nvGrpSpPr>
          <p:grpSpPr>
            <a:xfrm>
              <a:off x="342900" y="504825"/>
              <a:ext cx="1028700" cy="180718"/>
              <a:chOff x="342900" y="495300"/>
              <a:chExt cx="1409700" cy="247650"/>
            </a:xfrm>
          </p:grpSpPr>
          <p:sp>
            <p:nvSpPr>
              <p:cNvPr id="680" name="Google Shape;680;p1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1" name="Google Shape;681;p1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2" name="Google Shape;682;p1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3" name="Google Shape;683;p1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84" name="Google Shape;684;p13"/>
            <p:cNvGrpSpPr/>
            <p:nvPr/>
          </p:nvGrpSpPr>
          <p:grpSpPr>
            <a:xfrm>
              <a:off x="342900" y="838200"/>
              <a:ext cx="1028700" cy="180718"/>
              <a:chOff x="342900" y="495300"/>
              <a:chExt cx="1409700" cy="247650"/>
            </a:xfrm>
          </p:grpSpPr>
          <p:sp>
            <p:nvSpPr>
              <p:cNvPr id="685" name="Google Shape;685;p1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6" name="Google Shape;686;p1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7" name="Google Shape;687;p1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8" name="Google Shape;688;p1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689" name="Google Shape;689;p13"/>
            <p:cNvGrpSpPr/>
            <p:nvPr/>
          </p:nvGrpSpPr>
          <p:grpSpPr>
            <a:xfrm>
              <a:off x="342900" y="171450"/>
              <a:ext cx="1028700" cy="180718"/>
              <a:chOff x="342900" y="495300"/>
              <a:chExt cx="1409700" cy="247650"/>
            </a:xfrm>
          </p:grpSpPr>
          <p:sp>
            <p:nvSpPr>
              <p:cNvPr id="690" name="Google Shape;690;p1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91" name="Google Shape;691;p1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92" name="Google Shape;692;p1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93" name="Google Shape;693;p1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694" name="Google Shape;694;p13"/>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5" name="Google Shape;695;p13"/>
          <p:cNvSpPr txBox="1"/>
          <p:nvPr/>
        </p:nvSpPr>
        <p:spPr>
          <a:xfrm>
            <a:off x="657899" y="529970"/>
            <a:ext cx="1096512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Arial"/>
                <a:ea typeface="Arial"/>
                <a:cs typeface="Arial"/>
                <a:sym typeface="Arial"/>
              </a:rPr>
              <a:t>Do individuals with sleep disorders have higher circadian risk scores?</a:t>
            </a:r>
            <a:endParaRPr b="1" i="1" sz="2000" u="none" cap="none" strike="noStrike">
              <a:solidFill>
                <a:schemeClr val="dk1"/>
              </a:solidFill>
              <a:latin typeface="Arial"/>
              <a:ea typeface="Arial"/>
              <a:cs typeface="Arial"/>
              <a:sym typeface="Arial"/>
            </a:endParaRPr>
          </a:p>
        </p:txBody>
      </p:sp>
      <p:sp>
        <p:nvSpPr>
          <p:cNvPr id="696" name="Google Shape;696;p13"/>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697" name="Google Shape;697;p13"/>
          <p:cNvSpPr/>
          <p:nvPr/>
        </p:nvSpPr>
        <p:spPr>
          <a:xfrm>
            <a:off x="7687051" y="1194297"/>
            <a:ext cx="3824949" cy="507831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Higher circadian risk is somewhat associated with insomnia, but not clearly with sleep apnea</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Both disorder groups show similar distributions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Insomnia skews toward higher risk</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Sleep apnea shows more variability, including some low-risk individuals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Lifestyle-related circadian risk slightly affects insomnia</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98" name="Google Shape;698;p13"/>
          <p:cNvPicPr preferRelativeResize="0"/>
          <p:nvPr/>
        </p:nvPicPr>
        <p:blipFill rotWithShape="1">
          <a:blip r:embed="rId3">
            <a:alphaModFix/>
          </a:blip>
          <a:srcRect b="0" l="0" r="0" t="0"/>
          <a:stretch/>
        </p:blipFill>
        <p:spPr>
          <a:xfrm>
            <a:off x="964540" y="1323755"/>
            <a:ext cx="6566834" cy="4066728"/>
          </a:xfrm>
          <a:prstGeom prst="rect">
            <a:avLst/>
          </a:prstGeom>
          <a:noFill/>
          <a:ln>
            <a:noFill/>
          </a:ln>
        </p:spPr>
      </p:pic>
      <p:sp>
        <p:nvSpPr>
          <p:cNvPr id="699" name="Google Shape;699;p13"/>
          <p:cNvSpPr/>
          <p:nvPr/>
        </p:nvSpPr>
        <p:spPr>
          <a:xfrm>
            <a:off x="1767727" y="5487303"/>
            <a:ext cx="517204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71B6A0"/>
                </a:solidFill>
                <a:latin typeface="Arial"/>
                <a:ea typeface="Arial"/>
                <a:cs typeface="Arial"/>
                <a:sym typeface="Arial"/>
              </a:rPr>
              <a:t>This plot compares circadian risk across groups: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E99675"/>
                </a:solidFill>
                <a:latin typeface="Arial"/>
                <a:ea typeface="Arial"/>
                <a:cs typeface="Arial"/>
                <a:sym typeface="Arial"/>
              </a:rPr>
              <a:t>Sleep apnea, Insomnia</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4"/>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5" name="Google Shape;705;p14"/>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06" name="Google Shape;706;p14"/>
          <p:cNvGrpSpPr/>
          <p:nvPr/>
        </p:nvGrpSpPr>
        <p:grpSpPr>
          <a:xfrm>
            <a:off x="178379" y="5425831"/>
            <a:ext cx="699837" cy="576543"/>
            <a:chOff x="342900" y="171450"/>
            <a:chExt cx="1028700" cy="847468"/>
          </a:xfrm>
        </p:grpSpPr>
        <p:grpSp>
          <p:nvGrpSpPr>
            <p:cNvPr id="707" name="Google Shape;707;p14"/>
            <p:cNvGrpSpPr/>
            <p:nvPr/>
          </p:nvGrpSpPr>
          <p:grpSpPr>
            <a:xfrm>
              <a:off x="342900" y="504825"/>
              <a:ext cx="1028700" cy="180718"/>
              <a:chOff x="342900" y="495300"/>
              <a:chExt cx="1409700" cy="247650"/>
            </a:xfrm>
          </p:grpSpPr>
          <p:sp>
            <p:nvSpPr>
              <p:cNvPr id="708" name="Google Shape;708;p1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9" name="Google Shape;709;p1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0" name="Google Shape;710;p1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1" name="Google Shape;711;p1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12" name="Google Shape;712;p14"/>
            <p:cNvGrpSpPr/>
            <p:nvPr/>
          </p:nvGrpSpPr>
          <p:grpSpPr>
            <a:xfrm>
              <a:off x="342900" y="838200"/>
              <a:ext cx="1028700" cy="180718"/>
              <a:chOff x="342900" y="495300"/>
              <a:chExt cx="1409700" cy="247650"/>
            </a:xfrm>
          </p:grpSpPr>
          <p:sp>
            <p:nvSpPr>
              <p:cNvPr id="713" name="Google Shape;713;p1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4" name="Google Shape;714;p1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5" name="Google Shape;715;p1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6" name="Google Shape;716;p1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17" name="Google Shape;717;p14"/>
            <p:cNvGrpSpPr/>
            <p:nvPr/>
          </p:nvGrpSpPr>
          <p:grpSpPr>
            <a:xfrm>
              <a:off x="342900" y="171450"/>
              <a:ext cx="1028700" cy="180718"/>
              <a:chOff x="342900" y="495300"/>
              <a:chExt cx="1409700" cy="247650"/>
            </a:xfrm>
          </p:grpSpPr>
          <p:sp>
            <p:nvSpPr>
              <p:cNvPr id="718" name="Google Shape;718;p1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9" name="Google Shape;719;p1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0" name="Google Shape;720;p1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1" name="Google Shape;721;p1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722" name="Google Shape;722;p14"/>
          <p:cNvGrpSpPr/>
          <p:nvPr/>
        </p:nvGrpSpPr>
        <p:grpSpPr>
          <a:xfrm>
            <a:off x="10722184" y="257737"/>
            <a:ext cx="705853" cy="581499"/>
            <a:chOff x="342900" y="171450"/>
            <a:chExt cx="1028700" cy="847468"/>
          </a:xfrm>
        </p:grpSpPr>
        <p:grpSp>
          <p:nvGrpSpPr>
            <p:cNvPr id="723" name="Google Shape;723;p14"/>
            <p:cNvGrpSpPr/>
            <p:nvPr/>
          </p:nvGrpSpPr>
          <p:grpSpPr>
            <a:xfrm>
              <a:off x="342900" y="504825"/>
              <a:ext cx="1028700" cy="180718"/>
              <a:chOff x="342900" y="495300"/>
              <a:chExt cx="1409700" cy="247650"/>
            </a:xfrm>
          </p:grpSpPr>
          <p:sp>
            <p:nvSpPr>
              <p:cNvPr id="724" name="Google Shape;724;p1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5" name="Google Shape;725;p1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6" name="Google Shape;726;p1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7" name="Google Shape;727;p1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28" name="Google Shape;728;p14"/>
            <p:cNvGrpSpPr/>
            <p:nvPr/>
          </p:nvGrpSpPr>
          <p:grpSpPr>
            <a:xfrm>
              <a:off x="342900" y="838200"/>
              <a:ext cx="1028700" cy="180718"/>
              <a:chOff x="342900" y="495300"/>
              <a:chExt cx="1409700" cy="247650"/>
            </a:xfrm>
          </p:grpSpPr>
          <p:sp>
            <p:nvSpPr>
              <p:cNvPr id="729" name="Google Shape;729;p1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0" name="Google Shape;730;p1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1" name="Google Shape;731;p1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2" name="Google Shape;732;p1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33" name="Google Shape;733;p14"/>
            <p:cNvGrpSpPr/>
            <p:nvPr/>
          </p:nvGrpSpPr>
          <p:grpSpPr>
            <a:xfrm>
              <a:off x="342900" y="171450"/>
              <a:ext cx="1028700" cy="180718"/>
              <a:chOff x="342900" y="495300"/>
              <a:chExt cx="1409700" cy="247650"/>
            </a:xfrm>
          </p:grpSpPr>
          <p:sp>
            <p:nvSpPr>
              <p:cNvPr id="734" name="Google Shape;734;p1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5" name="Google Shape;735;p1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6" name="Google Shape;736;p1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7" name="Google Shape;737;p1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738" name="Google Shape;738;p14"/>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9" name="Google Shape;739;p14"/>
          <p:cNvSpPr txBox="1"/>
          <p:nvPr/>
        </p:nvSpPr>
        <p:spPr>
          <a:xfrm>
            <a:off x="1422554" y="2894521"/>
            <a:ext cx="102313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Behavioral Clustering for Sleep Risk Profiling</a:t>
            </a:r>
            <a:endParaRPr b="1" i="0" sz="3600" u="none" cap="none" strike="noStrike">
              <a:solidFill>
                <a:schemeClr val="dk1"/>
              </a:solidFill>
              <a:latin typeface="Arial"/>
              <a:ea typeface="Arial"/>
              <a:cs typeface="Arial"/>
              <a:sym typeface="Arial"/>
            </a:endParaRPr>
          </a:p>
        </p:txBody>
      </p:sp>
      <p:sp>
        <p:nvSpPr>
          <p:cNvPr id="740" name="Google Shape;740;p14"/>
          <p:cNvSpPr/>
          <p:nvPr/>
        </p:nvSpPr>
        <p:spPr>
          <a:xfrm flipH="1" rot="-840000">
            <a:off x="4241110" y="1757201"/>
            <a:ext cx="721995" cy="721995"/>
          </a:xfrm>
          <a:prstGeom prst="ellipse">
            <a:avLst/>
          </a:prstGeom>
          <a:gradFill>
            <a:gsLst>
              <a:gs pos="0">
                <a:srgbClr val="EE8B11"/>
              </a:gs>
              <a:gs pos="9000">
                <a:srgbClr val="EE8B11"/>
              </a:gs>
              <a:gs pos="100000">
                <a:srgbClr val="FFFFFF">
                  <a:alpha val="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1" name="Google Shape;741;p14"/>
          <p:cNvSpPr txBox="1"/>
          <p:nvPr/>
        </p:nvSpPr>
        <p:spPr>
          <a:xfrm>
            <a:off x="1206725" y="1840975"/>
            <a:ext cx="38331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2F53BA"/>
              </a:buClr>
              <a:buSzPts val="4800"/>
              <a:buFont typeface="Arial"/>
              <a:buNone/>
            </a:pPr>
            <a:r>
              <a:rPr b="1" i="0" lang="en-US" sz="4800" u="none" cap="none" strike="noStrike">
                <a:solidFill>
                  <a:srgbClr val="2F53BA"/>
                </a:solidFill>
                <a:latin typeface="Arial"/>
                <a:ea typeface="Arial"/>
                <a:cs typeface="Arial"/>
                <a:sym typeface="Arial"/>
              </a:rPr>
              <a:t>PART FOUR</a:t>
            </a:r>
            <a:endParaRPr b="1" i="0" sz="4800" u="none" cap="none" strike="noStrike">
              <a:solidFill>
                <a:srgbClr val="2F53BA"/>
              </a:solidFill>
              <a:latin typeface="Arial"/>
              <a:ea typeface="Arial"/>
              <a:cs typeface="Arial"/>
              <a:sym typeface="Arial"/>
            </a:endParaRPr>
          </a:p>
        </p:txBody>
      </p:sp>
      <p:grpSp>
        <p:nvGrpSpPr>
          <p:cNvPr id="742" name="Google Shape;742;p14"/>
          <p:cNvGrpSpPr/>
          <p:nvPr/>
        </p:nvGrpSpPr>
        <p:grpSpPr>
          <a:xfrm>
            <a:off x="10159895" y="4066992"/>
            <a:ext cx="1032510" cy="133985"/>
            <a:chOff x="15823" y="7432"/>
            <a:chExt cx="1626" cy="211"/>
          </a:xfrm>
        </p:grpSpPr>
        <p:sp>
          <p:nvSpPr>
            <p:cNvPr id="743" name="Google Shape;743;p14"/>
            <p:cNvSpPr/>
            <p:nvPr/>
          </p:nvSpPr>
          <p:spPr>
            <a:xfrm flipH="1" rot="10800000">
              <a:off x="15823"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4" name="Google Shape;744;p14"/>
            <p:cNvSpPr/>
            <p:nvPr/>
          </p:nvSpPr>
          <p:spPr>
            <a:xfrm flipH="1" rot="10800000">
              <a:off x="16107"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5" name="Google Shape;745;p14"/>
            <p:cNvSpPr/>
            <p:nvPr/>
          </p:nvSpPr>
          <p:spPr>
            <a:xfrm flipH="1" rot="10800000">
              <a:off x="16388"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6" name="Google Shape;746;p14"/>
            <p:cNvSpPr/>
            <p:nvPr/>
          </p:nvSpPr>
          <p:spPr>
            <a:xfrm flipH="1" rot="10800000">
              <a:off x="16673"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7" name="Google Shape;747;p14"/>
            <p:cNvSpPr/>
            <p:nvPr/>
          </p:nvSpPr>
          <p:spPr>
            <a:xfrm flipH="1" rot="10800000">
              <a:off x="16957"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8" name="Google Shape;748;p14"/>
            <p:cNvSpPr/>
            <p:nvPr/>
          </p:nvSpPr>
          <p:spPr>
            <a:xfrm flipH="1" rot="10800000">
              <a:off x="17238"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5"/>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5" name="Google Shape;755;p15"/>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56" name="Google Shape;756;p15"/>
          <p:cNvGrpSpPr/>
          <p:nvPr/>
        </p:nvGrpSpPr>
        <p:grpSpPr>
          <a:xfrm>
            <a:off x="178379" y="5425831"/>
            <a:ext cx="699837" cy="576543"/>
            <a:chOff x="342900" y="171450"/>
            <a:chExt cx="1028700" cy="847468"/>
          </a:xfrm>
        </p:grpSpPr>
        <p:grpSp>
          <p:nvGrpSpPr>
            <p:cNvPr id="757" name="Google Shape;757;p15"/>
            <p:cNvGrpSpPr/>
            <p:nvPr/>
          </p:nvGrpSpPr>
          <p:grpSpPr>
            <a:xfrm>
              <a:off x="342900" y="504825"/>
              <a:ext cx="1028700" cy="180718"/>
              <a:chOff x="342900" y="495300"/>
              <a:chExt cx="1409700" cy="247650"/>
            </a:xfrm>
          </p:grpSpPr>
          <p:sp>
            <p:nvSpPr>
              <p:cNvPr id="758" name="Google Shape;758;p15"/>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9" name="Google Shape;759;p15"/>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0" name="Google Shape;760;p15"/>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1" name="Google Shape;761;p15"/>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62" name="Google Shape;762;p15"/>
            <p:cNvGrpSpPr/>
            <p:nvPr/>
          </p:nvGrpSpPr>
          <p:grpSpPr>
            <a:xfrm>
              <a:off x="342900" y="838200"/>
              <a:ext cx="1028700" cy="180718"/>
              <a:chOff x="342900" y="495300"/>
              <a:chExt cx="1409700" cy="247650"/>
            </a:xfrm>
          </p:grpSpPr>
          <p:sp>
            <p:nvSpPr>
              <p:cNvPr id="763" name="Google Shape;763;p15"/>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4" name="Google Shape;764;p15"/>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5" name="Google Shape;765;p15"/>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6" name="Google Shape;766;p15"/>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67" name="Google Shape;767;p15"/>
            <p:cNvGrpSpPr/>
            <p:nvPr/>
          </p:nvGrpSpPr>
          <p:grpSpPr>
            <a:xfrm>
              <a:off x="342900" y="171450"/>
              <a:ext cx="1028700" cy="180718"/>
              <a:chOff x="342900" y="495300"/>
              <a:chExt cx="1409700" cy="247650"/>
            </a:xfrm>
          </p:grpSpPr>
          <p:sp>
            <p:nvSpPr>
              <p:cNvPr id="768" name="Google Shape;768;p15"/>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9" name="Google Shape;769;p15"/>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0" name="Google Shape;770;p15"/>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1" name="Google Shape;771;p15"/>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772" name="Google Shape;772;p15"/>
          <p:cNvGrpSpPr/>
          <p:nvPr/>
        </p:nvGrpSpPr>
        <p:grpSpPr>
          <a:xfrm>
            <a:off x="10722184" y="257737"/>
            <a:ext cx="705853" cy="581499"/>
            <a:chOff x="342900" y="171450"/>
            <a:chExt cx="1028700" cy="847468"/>
          </a:xfrm>
        </p:grpSpPr>
        <p:grpSp>
          <p:nvGrpSpPr>
            <p:cNvPr id="773" name="Google Shape;773;p15"/>
            <p:cNvGrpSpPr/>
            <p:nvPr/>
          </p:nvGrpSpPr>
          <p:grpSpPr>
            <a:xfrm>
              <a:off x="342900" y="504825"/>
              <a:ext cx="1028700" cy="180718"/>
              <a:chOff x="342900" y="495300"/>
              <a:chExt cx="1409700" cy="247650"/>
            </a:xfrm>
          </p:grpSpPr>
          <p:sp>
            <p:nvSpPr>
              <p:cNvPr id="774" name="Google Shape;774;p15"/>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5" name="Google Shape;775;p15"/>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6" name="Google Shape;776;p15"/>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7" name="Google Shape;777;p15"/>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78" name="Google Shape;778;p15"/>
            <p:cNvGrpSpPr/>
            <p:nvPr/>
          </p:nvGrpSpPr>
          <p:grpSpPr>
            <a:xfrm>
              <a:off x="342900" y="838200"/>
              <a:ext cx="1028700" cy="180718"/>
              <a:chOff x="342900" y="495300"/>
              <a:chExt cx="1409700" cy="247650"/>
            </a:xfrm>
          </p:grpSpPr>
          <p:sp>
            <p:nvSpPr>
              <p:cNvPr id="779" name="Google Shape;779;p15"/>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0" name="Google Shape;780;p15"/>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1" name="Google Shape;781;p15"/>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2" name="Google Shape;782;p15"/>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783" name="Google Shape;783;p15"/>
            <p:cNvGrpSpPr/>
            <p:nvPr/>
          </p:nvGrpSpPr>
          <p:grpSpPr>
            <a:xfrm>
              <a:off x="342900" y="171450"/>
              <a:ext cx="1028700" cy="180718"/>
              <a:chOff x="342900" y="495300"/>
              <a:chExt cx="1409700" cy="247650"/>
            </a:xfrm>
          </p:grpSpPr>
          <p:sp>
            <p:nvSpPr>
              <p:cNvPr id="784" name="Google Shape;784;p15"/>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5" name="Google Shape;785;p15"/>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6" name="Google Shape;786;p15"/>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7" name="Google Shape;787;p15"/>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788" name="Google Shape;788;p15"/>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9" name="Google Shape;789;p15"/>
          <p:cNvSpPr txBox="1"/>
          <p:nvPr/>
        </p:nvSpPr>
        <p:spPr>
          <a:xfrm>
            <a:off x="657899" y="529970"/>
            <a:ext cx="1096512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Arial"/>
                <a:ea typeface="Arial"/>
                <a:cs typeface="Arial"/>
                <a:sym typeface="Arial"/>
              </a:rPr>
              <a:t>Do lifestyle behaviors form distinct clusters?</a:t>
            </a:r>
            <a:endParaRPr b="1" i="1" sz="2000" u="none" cap="none" strike="noStrike">
              <a:solidFill>
                <a:schemeClr val="dk1"/>
              </a:solidFill>
              <a:latin typeface="Arial"/>
              <a:ea typeface="Arial"/>
              <a:cs typeface="Arial"/>
              <a:sym typeface="Arial"/>
            </a:endParaRPr>
          </a:p>
        </p:txBody>
      </p:sp>
      <p:sp>
        <p:nvSpPr>
          <p:cNvPr id="790" name="Google Shape;790;p15"/>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91" name="Google Shape;791;p15"/>
          <p:cNvSpPr/>
          <p:nvPr/>
        </p:nvSpPr>
        <p:spPr>
          <a:xfrm>
            <a:off x="7698712" y="1829767"/>
            <a:ext cx="3411373" cy="286232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Cluster 0: High stress, high caffeine, low sleep → high-stimulation group</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Cluster 1: Moderate and balanced lifestyle habits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Cluster 2: Low risk, healthy routine (low caffeine &amp; screen time)</a:t>
            </a:r>
            <a:endParaRPr b="0" i="0" sz="1400" u="none" cap="none" strike="noStrike">
              <a:solidFill>
                <a:srgbClr val="000000"/>
              </a:solidFill>
              <a:latin typeface="Arial"/>
              <a:ea typeface="Arial"/>
              <a:cs typeface="Arial"/>
              <a:sym typeface="Arial"/>
            </a:endParaRPr>
          </a:p>
        </p:txBody>
      </p:sp>
      <p:pic>
        <p:nvPicPr>
          <p:cNvPr id="792" name="Google Shape;792;p15"/>
          <p:cNvPicPr preferRelativeResize="0"/>
          <p:nvPr/>
        </p:nvPicPr>
        <p:blipFill rotWithShape="1">
          <a:blip r:embed="rId3">
            <a:alphaModFix/>
          </a:blip>
          <a:srcRect b="0" l="0" r="0" t="0"/>
          <a:stretch/>
        </p:blipFill>
        <p:spPr>
          <a:xfrm>
            <a:off x="932598" y="1334603"/>
            <a:ext cx="6735938" cy="4029905"/>
          </a:xfrm>
          <a:prstGeom prst="rect">
            <a:avLst/>
          </a:prstGeom>
          <a:noFill/>
          <a:ln>
            <a:noFill/>
          </a:ln>
        </p:spPr>
      </p:pic>
      <p:sp>
        <p:nvSpPr>
          <p:cNvPr id="793" name="Google Shape;793;p15"/>
          <p:cNvSpPr/>
          <p:nvPr/>
        </p:nvSpPr>
        <p:spPr>
          <a:xfrm>
            <a:off x="1292735" y="5652630"/>
            <a:ext cx="960652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accent1"/>
                </a:solidFill>
                <a:latin typeface="Arial"/>
                <a:ea typeface="Arial"/>
                <a:cs typeface="Arial"/>
                <a:sym typeface="Arial"/>
              </a:rPr>
              <a:t>Participants naturally form three distinct lifestyle patterns, showing clear behavioral grouping.</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6"/>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0" name="Google Shape;800;p16"/>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01" name="Google Shape;801;p16"/>
          <p:cNvGrpSpPr/>
          <p:nvPr/>
        </p:nvGrpSpPr>
        <p:grpSpPr>
          <a:xfrm>
            <a:off x="178379" y="5425831"/>
            <a:ext cx="699837" cy="576543"/>
            <a:chOff x="342900" y="171450"/>
            <a:chExt cx="1028700" cy="847468"/>
          </a:xfrm>
        </p:grpSpPr>
        <p:grpSp>
          <p:nvGrpSpPr>
            <p:cNvPr id="802" name="Google Shape;802;p16"/>
            <p:cNvGrpSpPr/>
            <p:nvPr/>
          </p:nvGrpSpPr>
          <p:grpSpPr>
            <a:xfrm>
              <a:off x="342900" y="504825"/>
              <a:ext cx="1028700" cy="180718"/>
              <a:chOff x="342900" y="495300"/>
              <a:chExt cx="1409700" cy="247650"/>
            </a:xfrm>
          </p:grpSpPr>
          <p:sp>
            <p:nvSpPr>
              <p:cNvPr id="803" name="Google Shape;803;p16"/>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4" name="Google Shape;804;p16"/>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5" name="Google Shape;805;p16"/>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6" name="Google Shape;806;p16"/>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07" name="Google Shape;807;p16"/>
            <p:cNvGrpSpPr/>
            <p:nvPr/>
          </p:nvGrpSpPr>
          <p:grpSpPr>
            <a:xfrm>
              <a:off x="342900" y="838200"/>
              <a:ext cx="1028700" cy="180718"/>
              <a:chOff x="342900" y="495300"/>
              <a:chExt cx="1409700" cy="247650"/>
            </a:xfrm>
          </p:grpSpPr>
          <p:sp>
            <p:nvSpPr>
              <p:cNvPr id="808" name="Google Shape;808;p16"/>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9" name="Google Shape;809;p16"/>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0" name="Google Shape;810;p16"/>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1" name="Google Shape;811;p16"/>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12" name="Google Shape;812;p16"/>
            <p:cNvGrpSpPr/>
            <p:nvPr/>
          </p:nvGrpSpPr>
          <p:grpSpPr>
            <a:xfrm>
              <a:off x="342900" y="171450"/>
              <a:ext cx="1028700" cy="180718"/>
              <a:chOff x="342900" y="495300"/>
              <a:chExt cx="1409700" cy="247650"/>
            </a:xfrm>
          </p:grpSpPr>
          <p:sp>
            <p:nvSpPr>
              <p:cNvPr id="813" name="Google Shape;813;p16"/>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4" name="Google Shape;814;p16"/>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5" name="Google Shape;815;p16"/>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6" name="Google Shape;816;p16"/>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817" name="Google Shape;817;p16"/>
          <p:cNvGrpSpPr/>
          <p:nvPr/>
        </p:nvGrpSpPr>
        <p:grpSpPr>
          <a:xfrm>
            <a:off x="10722184" y="257737"/>
            <a:ext cx="705853" cy="581499"/>
            <a:chOff x="342900" y="171450"/>
            <a:chExt cx="1028700" cy="847468"/>
          </a:xfrm>
        </p:grpSpPr>
        <p:grpSp>
          <p:nvGrpSpPr>
            <p:cNvPr id="818" name="Google Shape;818;p16"/>
            <p:cNvGrpSpPr/>
            <p:nvPr/>
          </p:nvGrpSpPr>
          <p:grpSpPr>
            <a:xfrm>
              <a:off x="342900" y="504825"/>
              <a:ext cx="1028700" cy="180718"/>
              <a:chOff x="342900" y="495300"/>
              <a:chExt cx="1409700" cy="247650"/>
            </a:xfrm>
          </p:grpSpPr>
          <p:sp>
            <p:nvSpPr>
              <p:cNvPr id="819" name="Google Shape;819;p16"/>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0" name="Google Shape;820;p16"/>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1" name="Google Shape;821;p16"/>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2" name="Google Shape;822;p16"/>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23" name="Google Shape;823;p16"/>
            <p:cNvGrpSpPr/>
            <p:nvPr/>
          </p:nvGrpSpPr>
          <p:grpSpPr>
            <a:xfrm>
              <a:off x="342900" y="838200"/>
              <a:ext cx="1028700" cy="180718"/>
              <a:chOff x="342900" y="495300"/>
              <a:chExt cx="1409700" cy="247650"/>
            </a:xfrm>
          </p:grpSpPr>
          <p:sp>
            <p:nvSpPr>
              <p:cNvPr id="824" name="Google Shape;824;p16"/>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5" name="Google Shape;825;p16"/>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6" name="Google Shape;826;p16"/>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7" name="Google Shape;827;p16"/>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28" name="Google Shape;828;p16"/>
            <p:cNvGrpSpPr/>
            <p:nvPr/>
          </p:nvGrpSpPr>
          <p:grpSpPr>
            <a:xfrm>
              <a:off x="342900" y="171450"/>
              <a:ext cx="1028700" cy="180718"/>
              <a:chOff x="342900" y="495300"/>
              <a:chExt cx="1409700" cy="247650"/>
            </a:xfrm>
          </p:grpSpPr>
          <p:sp>
            <p:nvSpPr>
              <p:cNvPr id="829" name="Google Shape;829;p16"/>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0" name="Google Shape;830;p16"/>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1" name="Google Shape;831;p16"/>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2" name="Google Shape;832;p16"/>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833" name="Google Shape;833;p16"/>
          <p:cNvSpPr/>
          <p:nvPr/>
        </p:nvSpPr>
        <p:spPr>
          <a:xfrm>
            <a:off x="675604" y="619119"/>
            <a:ext cx="10965085" cy="5744413"/>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4" name="Google Shape;834;p16"/>
          <p:cNvSpPr txBox="1"/>
          <p:nvPr/>
        </p:nvSpPr>
        <p:spPr>
          <a:xfrm>
            <a:off x="657899" y="529970"/>
            <a:ext cx="1096512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chemeClr val="dk1"/>
                </a:solidFill>
                <a:latin typeface="Arial"/>
                <a:ea typeface="Arial"/>
                <a:cs typeface="Arial"/>
                <a:sym typeface="Arial"/>
              </a:rPr>
              <a:t>How are lifestyle behavior clusters distributed across different occupations?</a:t>
            </a:r>
            <a:endParaRPr b="1" i="1" sz="1800" u="none" cap="none" strike="noStrike">
              <a:solidFill>
                <a:schemeClr val="dk1"/>
              </a:solidFill>
              <a:latin typeface="Arial"/>
              <a:ea typeface="Arial"/>
              <a:cs typeface="Arial"/>
              <a:sym typeface="Arial"/>
            </a:endParaRPr>
          </a:p>
        </p:txBody>
      </p:sp>
      <p:sp>
        <p:nvSpPr>
          <p:cNvPr id="835" name="Google Shape;835;p16"/>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836" name="Google Shape;836;p16"/>
          <p:cNvPicPr preferRelativeResize="0"/>
          <p:nvPr/>
        </p:nvPicPr>
        <p:blipFill rotWithShape="1">
          <a:blip r:embed="rId3">
            <a:alphaModFix/>
          </a:blip>
          <a:srcRect b="0" l="0" r="0" t="0"/>
          <a:stretch/>
        </p:blipFill>
        <p:spPr>
          <a:xfrm>
            <a:off x="1192367" y="1016058"/>
            <a:ext cx="7563088" cy="3869655"/>
          </a:xfrm>
          <a:prstGeom prst="rect">
            <a:avLst/>
          </a:prstGeom>
          <a:noFill/>
          <a:ln>
            <a:noFill/>
          </a:ln>
        </p:spPr>
      </p:pic>
      <p:sp>
        <p:nvSpPr>
          <p:cNvPr id="837" name="Google Shape;837;p16"/>
          <p:cNvSpPr/>
          <p:nvPr/>
        </p:nvSpPr>
        <p:spPr>
          <a:xfrm>
            <a:off x="4754944" y="4665000"/>
            <a:ext cx="10033686" cy="147732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Healthcare &amp; engineers → Cluster 0 (high risk)</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Salespeople → Cluster 1 (moderate)</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Others→ Cluster 2 (healthy)</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7"/>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4" name="Google Shape;844;p17"/>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45" name="Google Shape;845;p17"/>
          <p:cNvGrpSpPr/>
          <p:nvPr/>
        </p:nvGrpSpPr>
        <p:grpSpPr>
          <a:xfrm>
            <a:off x="178379" y="5425831"/>
            <a:ext cx="699837" cy="576543"/>
            <a:chOff x="342900" y="171450"/>
            <a:chExt cx="1028700" cy="847468"/>
          </a:xfrm>
        </p:grpSpPr>
        <p:grpSp>
          <p:nvGrpSpPr>
            <p:cNvPr id="846" name="Google Shape;846;p17"/>
            <p:cNvGrpSpPr/>
            <p:nvPr/>
          </p:nvGrpSpPr>
          <p:grpSpPr>
            <a:xfrm>
              <a:off x="342900" y="504825"/>
              <a:ext cx="1028700" cy="180718"/>
              <a:chOff x="342900" y="495300"/>
              <a:chExt cx="1409700" cy="247650"/>
            </a:xfrm>
          </p:grpSpPr>
          <p:sp>
            <p:nvSpPr>
              <p:cNvPr id="847" name="Google Shape;847;p17"/>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8" name="Google Shape;848;p17"/>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9" name="Google Shape;849;p17"/>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0" name="Google Shape;850;p17"/>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51" name="Google Shape;851;p17"/>
            <p:cNvGrpSpPr/>
            <p:nvPr/>
          </p:nvGrpSpPr>
          <p:grpSpPr>
            <a:xfrm>
              <a:off x="342900" y="838200"/>
              <a:ext cx="1028700" cy="180718"/>
              <a:chOff x="342900" y="495300"/>
              <a:chExt cx="1409700" cy="247650"/>
            </a:xfrm>
          </p:grpSpPr>
          <p:sp>
            <p:nvSpPr>
              <p:cNvPr id="852" name="Google Shape;852;p17"/>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3" name="Google Shape;853;p17"/>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4" name="Google Shape;854;p17"/>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5" name="Google Shape;855;p17"/>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56" name="Google Shape;856;p17"/>
            <p:cNvGrpSpPr/>
            <p:nvPr/>
          </p:nvGrpSpPr>
          <p:grpSpPr>
            <a:xfrm>
              <a:off x="342900" y="171450"/>
              <a:ext cx="1028700" cy="180718"/>
              <a:chOff x="342900" y="495300"/>
              <a:chExt cx="1409700" cy="247650"/>
            </a:xfrm>
          </p:grpSpPr>
          <p:sp>
            <p:nvSpPr>
              <p:cNvPr id="857" name="Google Shape;857;p17"/>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8" name="Google Shape;858;p17"/>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9" name="Google Shape;859;p17"/>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0" name="Google Shape;860;p17"/>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861" name="Google Shape;861;p17"/>
          <p:cNvGrpSpPr/>
          <p:nvPr/>
        </p:nvGrpSpPr>
        <p:grpSpPr>
          <a:xfrm>
            <a:off x="10722184" y="257737"/>
            <a:ext cx="705853" cy="581499"/>
            <a:chOff x="342900" y="171450"/>
            <a:chExt cx="1028700" cy="847468"/>
          </a:xfrm>
        </p:grpSpPr>
        <p:grpSp>
          <p:nvGrpSpPr>
            <p:cNvPr id="862" name="Google Shape;862;p17"/>
            <p:cNvGrpSpPr/>
            <p:nvPr/>
          </p:nvGrpSpPr>
          <p:grpSpPr>
            <a:xfrm>
              <a:off x="342900" y="504825"/>
              <a:ext cx="1028700" cy="180718"/>
              <a:chOff x="342900" y="495300"/>
              <a:chExt cx="1409700" cy="247650"/>
            </a:xfrm>
          </p:grpSpPr>
          <p:sp>
            <p:nvSpPr>
              <p:cNvPr id="863" name="Google Shape;863;p17"/>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4" name="Google Shape;864;p17"/>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5" name="Google Shape;865;p17"/>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6" name="Google Shape;866;p17"/>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67" name="Google Shape;867;p17"/>
            <p:cNvGrpSpPr/>
            <p:nvPr/>
          </p:nvGrpSpPr>
          <p:grpSpPr>
            <a:xfrm>
              <a:off x="342900" y="838200"/>
              <a:ext cx="1028700" cy="180718"/>
              <a:chOff x="342900" y="495300"/>
              <a:chExt cx="1409700" cy="247650"/>
            </a:xfrm>
          </p:grpSpPr>
          <p:sp>
            <p:nvSpPr>
              <p:cNvPr id="868" name="Google Shape;868;p17"/>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9" name="Google Shape;869;p17"/>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0" name="Google Shape;870;p17"/>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1" name="Google Shape;871;p17"/>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72" name="Google Shape;872;p17"/>
            <p:cNvGrpSpPr/>
            <p:nvPr/>
          </p:nvGrpSpPr>
          <p:grpSpPr>
            <a:xfrm>
              <a:off x="342900" y="171450"/>
              <a:ext cx="1028700" cy="180718"/>
              <a:chOff x="342900" y="495300"/>
              <a:chExt cx="1409700" cy="247650"/>
            </a:xfrm>
          </p:grpSpPr>
          <p:sp>
            <p:nvSpPr>
              <p:cNvPr id="873" name="Google Shape;873;p17"/>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4" name="Google Shape;874;p17"/>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5" name="Google Shape;875;p17"/>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6" name="Google Shape;876;p17"/>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877" name="Google Shape;877;p17"/>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8" name="Google Shape;878;p17"/>
          <p:cNvSpPr txBox="1"/>
          <p:nvPr/>
        </p:nvSpPr>
        <p:spPr>
          <a:xfrm>
            <a:off x="657899" y="529970"/>
            <a:ext cx="1096512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chemeClr val="dk1"/>
                </a:solidFill>
                <a:latin typeface="Arial"/>
                <a:ea typeface="Arial"/>
                <a:cs typeface="Arial"/>
                <a:sym typeface="Arial"/>
              </a:rPr>
              <a:t>How Can These Behavioral Clusters Be Used in Practice?</a:t>
            </a:r>
            <a:endParaRPr b="1" i="1" sz="1800" u="none" cap="none" strike="noStrike">
              <a:solidFill>
                <a:schemeClr val="dk1"/>
              </a:solidFill>
              <a:latin typeface="Arial"/>
              <a:ea typeface="Arial"/>
              <a:cs typeface="Arial"/>
              <a:sym typeface="Arial"/>
            </a:endParaRPr>
          </a:p>
        </p:txBody>
      </p:sp>
      <p:sp>
        <p:nvSpPr>
          <p:cNvPr id="879" name="Google Shape;879;p17"/>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graphicFrame>
        <p:nvGraphicFramePr>
          <p:cNvPr id="880" name="Google Shape;880;p17"/>
          <p:cNvGraphicFramePr/>
          <p:nvPr/>
        </p:nvGraphicFramePr>
        <p:xfrm>
          <a:off x="1416985" y="1115720"/>
          <a:ext cx="3000000" cy="3000000"/>
        </p:xfrm>
        <a:graphic>
          <a:graphicData uri="http://schemas.openxmlformats.org/drawingml/2006/table">
            <a:tbl>
              <a:tblPr>
                <a:noFill/>
                <a:tableStyleId>{BF72BF64-8FCE-464B-A9F1-85F291E201E3}</a:tableStyleId>
              </a:tblPr>
              <a:tblGrid>
                <a:gridCol w="3207725"/>
                <a:gridCol w="3207725"/>
                <a:gridCol w="3207725"/>
              </a:tblGrid>
              <a:tr h="341125">
                <a:tc>
                  <a:txBody>
                    <a:bodyPr/>
                    <a:lstStyle/>
                    <a:p>
                      <a:pPr indent="0" lvl="0" marL="0" marR="0" rtl="0" algn="ctr">
                        <a:lnSpc>
                          <a:spcPct val="100000"/>
                        </a:lnSpc>
                        <a:spcBef>
                          <a:spcPts val="0"/>
                        </a:spcBef>
                        <a:spcAft>
                          <a:spcPts val="0"/>
                        </a:spcAft>
                        <a:buClr>
                          <a:schemeClr val="dk1"/>
                        </a:buClr>
                        <a:buSzPts val="1600"/>
                        <a:buFont typeface="Times New Roman"/>
                        <a:buNone/>
                      </a:pPr>
                      <a:r>
                        <a:rPr i="1" lang="en-US" sz="1600" u="none" cap="none" strike="noStrike">
                          <a:latin typeface="Times New Roman"/>
                          <a:ea typeface="Times New Roman"/>
                          <a:cs typeface="Times New Roman"/>
                          <a:sym typeface="Times New Roman"/>
                        </a:rPr>
                        <a:t>Cluster Profile</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i="1" lang="en-US" sz="1600" u="none" cap="none" strike="noStrike">
                          <a:latin typeface="Times New Roman"/>
                          <a:ea typeface="Times New Roman"/>
                          <a:cs typeface="Times New Roman"/>
                          <a:sym typeface="Times New Roman"/>
                        </a:rPr>
                        <a:t>Key Risk Characteristics</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i="1" lang="en-US" sz="1600" u="none" cap="none" strike="noStrike">
                          <a:latin typeface="Times New Roman"/>
                          <a:ea typeface="Times New Roman"/>
                          <a:cs typeface="Times New Roman"/>
                          <a:sym typeface="Times New Roman"/>
                        </a:rPr>
                        <a:t>Potential Business Applications</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38875">
                <a:tc>
                  <a:txBody>
                    <a:bodyPr/>
                    <a:lstStyle/>
                    <a:p>
                      <a:pPr indent="0" lvl="0" marL="0" marR="0" rtl="0" algn="ctr">
                        <a:lnSpc>
                          <a:spcPct val="100000"/>
                        </a:lnSpc>
                        <a:spcBef>
                          <a:spcPts val="0"/>
                        </a:spcBef>
                        <a:spcAft>
                          <a:spcPts val="0"/>
                        </a:spcAft>
                        <a:buClr>
                          <a:schemeClr val="dk1"/>
                        </a:buClr>
                        <a:buSzPts val="1600"/>
                        <a:buFont typeface="Arial"/>
                        <a:buNone/>
                      </a:pPr>
                      <a:r>
                        <a:rPr b="1" lang="en-US" sz="1600" u="none" cap="none" strike="noStrike">
                          <a:highlight>
                            <a:srgbClr val="FECB26"/>
                          </a:highlight>
                          <a:latin typeface="Arial"/>
                          <a:ea typeface="Arial"/>
                          <a:cs typeface="Arial"/>
                          <a:sym typeface="Arial"/>
                        </a:rPr>
                        <a:t>Cluster 0</a:t>
                      </a:r>
                      <a:endParaRPr sz="1400" u="none" cap="none" strike="noStrike"/>
                    </a:p>
                    <a:p>
                      <a:pPr indent="0" lvl="0" marL="0" marR="0" rtl="0" algn="ctr">
                        <a:lnSpc>
                          <a:spcPct val="100000"/>
                        </a:lnSpc>
                        <a:spcBef>
                          <a:spcPts val="0"/>
                        </a:spcBef>
                        <a:spcAft>
                          <a:spcPts val="0"/>
                        </a:spcAft>
                        <a:buClr>
                          <a:schemeClr val="dk1"/>
                        </a:buClr>
                        <a:buSzPts val="1600"/>
                        <a:buFont typeface="Arial"/>
                        <a:buNone/>
                      </a:pPr>
                      <a:r>
                        <a:rPr b="1" lang="en-US" sz="1600" u="none" cap="none" strike="noStrike">
                          <a:latin typeface="Arial"/>
                          <a:ea typeface="Arial"/>
                          <a:cs typeface="Arial"/>
                          <a:sym typeface="Arial"/>
                        </a:rPr>
                        <a:t>High-Stimulation &amp; High-Risk Group</a:t>
                      </a:r>
                      <a:endParaRPr sz="1600" u="none" cap="none" strike="noStrike">
                        <a:latin typeface="Arial"/>
                        <a:ea typeface="Arial"/>
                        <a:cs typeface="Arial"/>
                        <a:sym typeface="Arial"/>
                      </a:endParaRPr>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High stress, high caffeine, poor sleep, strong disorder risk</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Corporate wellness &amp; stress management programs</a:t>
                      </a:r>
                      <a:endParaRPr sz="1400" u="none" cap="none" strike="noStrike"/>
                    </a:p>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Sleep coaching &amp; digital therapeutic solutions</a:t>
                      </a:r>
                      <a:endParaRPr sz="1400" u="none" cap="none" strike="noStrike"/>
                    </a:p>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Early risk detection for health insurance</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38875">
                <a:tc>
                  <a:txBody>
                    <a:bodyPr/>
                    <a:lstStyle/>
                    <a:p>
                      <a:pPr indent="0" lvl="0" marL="0" marR="0" rtl="0" algn="ctr">
                        <a:lnSpc>
                          <a:spcPct val="100000"/>
                        </a:lnSpc>
                        <a:spcBef>
                          <a:spcPts val="0"/>
                        </a:spcBef>
                        <a:spcAft>
                          <a:spcPts val="0"/>
                        </a:spcAft>
                        <a:buClr>
                          <a:schemeClr val="dk1"/>
                        </a:buClr>
                        <a:buSzPts val="1600"/>
                        <a:buFont typeface="Arial"/>
                        <a:buNone/>
                      </a:pPr>
                      <a:r>
                        <a:rPr b="1" lang="en-US" sz="1600" u="none" cap="none" strike="noStrike">
                          <a:highlight>
                            <a:srgbClr val="FECB26"/>
                          </a:highlight>
                          <a:latin typeface="Arial"/>
                          <a:ea typeface="Arial"/>
                          <a:cs typeface="Arial"/>
                          <a:sym typeface="Arial"/>
                        </a:rPr>
                        <a:t>Cluster 1</a:t>
                      </a:r>
                      <a:endParaRPr sz="1400" u="none" cap="none" strike="noStrike"/>
                    </a:p>
                    <a:p>
                      <a:pPr indent="0" lvl="0" marL="0" marR="0" rtl="0" algn="ctr">
                        <a:lnSpc>
                          <a:spcPct val="100000"/>
                        </a:lnSpc>
                        <a:spcBef>
                          <a:spcPts val="0"/>
                        </a:spcBef>
                        <a:spcAft>
                          <a:spcPts val="0"/>
                        </a:spcAft>
                        <a:buClr>
                          <a:schemeClr val="dk1"/>
                        </a:buClr>
                        <a:buSzPts val="1600"/>
                        <a:buFont typeface="Arial"/>
                        <a:buNone/>
                      </a:pPr>
                      <a:r>
                        <a:rPr b="1" lang="en-US" sz="1600" u="none" cap="none" strike="noStrike">
                          <a:latin typeface="Arial"/>
                          <a:ea typeface="Arial"/>
                          <a:cs typeface="Arial"/>
                          <a:sym typeface="Arial"/>
                        </a:rPr>
                        <a:t>Moderate &amp; Balanced Lifestyle</a:t>
                      </a:r>
                      <a:endParaRPr sz="1600" u="none" cap="none" strike="noStrike">
                        <a:latin typeface="Arial"/>
                        <a:ea typeface="Arial"/>
                        <a:cs typeface="Arial"/>
                        <a:sym typeface="Arial"/>
                      </a:endParaRPr>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Moderate stress, manageable sleep habits, mixed risk</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Lifestyle monitoring tools</a:t>
                      </a:r>
                      <a:endParaRPr sz="1400" u="none" cap="none" strike="noStrike"/>
                    </a:p>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Personalized habit tracking (wearables / apps)</a:t>
                      </a:r>
                      <a:endParaRPr sz="1400" u="none" cap="none" strike="noStrike"/>
                    </a:p>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Engagement-based subscription health services</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38875">
                <a:tc>
                  <a:txBody>
                    <a:bodyPr/>
                    <a:lstStyle/>
                    <a:p>
                      <a:pPr indent="0" lvl="0" marL="0" marR="0" rtl="0" algn="ctr">
                        <a:lnSpc>
                          <a:spcPct val="100000"/>
                        </a:lnSpc>
                        <a:spcBef>
                          <a:spcPts val="0"/>
                        </a:spcBef>
                        <a:spcAft>
                          <a:spcPts val="0"/>
                        </a:spcAft>
                        <a:buClr>
                          <a:schemeClr val="dk1"/>
                        </a:buClr>
                        <a:buSzPts val="1600"/>
                        <a:buFont typeface="Arial"/>
                        <a:buNone/>
                      </a:pPr>
                      <a:r>
                        <a:rPr b="1" lang="en-US" sz="1600" u="none" cap="none" strike="noStrike">
                          <a:highlight>
                            <a:srgbClr val="FECB26"/>
                          </a:highlight>
                          <a:latin typeface="Arial"/>
                          <a:ea typeface="Arial"/>
                          <a:cs typeface="Arial"/>
                          <a:sym typeface="Arial"/>
                        </a:rPr>
                        <a:t>Cluster 2</a:t>
                      </a:r>
                      <a:endParaRPr sz="1400" u="none" cap="none" strike="noStrike"/>
                    </a:p>
                    <a:p>
                      <a:pPr indent="0" lvl="0" marL="0" marR="0" rtl="0" algn="ctr">
                        <a:lnSpc>
                          <a:spcPct val="100000"/>
                        </a:lnSpc>
                        <a:spcBef>
                          <a:spcPts val="0"/>
                        </a:spcBef>
                        <a:spcAft>
                          <a:spcPts val="0"/>
                        </a:spcAft>
                        <a:buClr>
                          <a:schemeClr val="dk1"/>
                        </a:buClr>
                        <a:buSzPts val="1600"/>
                        <a:buFont typeface="Arial"/>
                        <a:buNone/>
                      </a:pPr>
                      <a:r>
                        <a:rPr b="1" lang="en-US" sz="1600" u="none" cap="none" strike="noStrike">
                          <a:latin typeface="Arial"/>
                          <a:ea typeface="Arial"/>
                          <a:cs typeface="Arial"/>
                          <a:sym typeface="Arial"/>
                        </a:rPr>
                        <a:t>Low Risk &amp; Healthy Routine</a:t>
                      </a:r>
                      <a:endParaRPr sz="1600" u="none" cap="none" strike="noStrike">
                        <a:latin typeface="Arial"/>
                        <a:ea typeface="Arial"/>
                        <a:cs typeface="Arial"/>
                        <a:sym typeface="Arial"/>
                      </a:endParaRPr>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Low stress, good sleep hygiene, healthy lifestyle</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Preventive health solutions</a:t>
                      </a:r>
                      <a:endParaRPr sz="1400" u="none" cap="none" strike="noStrike"/>
                    </a:p>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Sleep optimization &amp; performance enhancement</a:t>
                      </a:r>
                      <a:endParaRPr sz="1400" u="none" cap="none" strike="noStrike"/>
                    </a:p>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Target users for premium wellness programs</a:t>
                      </a:r>
                      <a:endParaRPr sz="1400" u="none" cap="none" strike="noStrike"/>
                    </a:p>
                  </a:txBody>
                  <a:tcPr marT="41850" marB="41850" marR="83675" marL="836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8"/>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6" name="Google Shape;886;p18"/>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87" name="Google Shape;887;p18"/>
          <p:cNvGrpSpPr/>
          <p:nvPr/>
        </p:nvGrpSpPr>
        <p:grpSpPr>
          <a:xfrm>
            <a:off x="178379" y="5425831"/>
            <a:ext cx="699837" cy="576543"/>
            <a:chOff x="342900" y="171450"/>
            <a:chExt cx="1028700" cy="847468"/>
          </a:xfrm>
        </p:grpSpPr>
        <p:grpSp>
          <p:nvGrpSpPr>
            <p:cNvPr id="888" name="Google Shape;888;p18"/>
            <p:cNvGrpSpPr/>
            <p:nvPr/>
          </p:nvGrpSpPr>
          <p:grpSpPr>
            <a:xfrm>
              <a:off x="342900" y="504825"/>
              <a:ext cx="1028700" cy="180718"/>
              <a:chOff x="342900" y="495300"/>
              <a:chExt cx="1409700" cy="247650"/>
            </a:xfrm>
          </p:grpSpPr>
          <p:sp>
            <p:nvSpPr>
              <p:cNvPr id="889" name="Google Shape;889;p18"/>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0" name="Google Shape;890;p18"/>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1" name="Google Shape;891;p18"/>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2" name="Google Shape;892;p18"/>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93" name="Google Shape;893;p18"/>
            <p:cNvGrpSpPr/>
            <p:nvPr/>
          </p:nvGrpSpPr>
          <p:grpSpPr>
            <a:xfrm>
              <a:off x="342900" y="838200"/>
              <a:ext cx="1028700" cy="180718"/>
              <a:chOff x="342900" y="495300"/>
              <a:chExt cx="1409700" cy="247650"/>
            </a:xfrm>
          </p:grpSpPr>
          <p:sp>
            <p:nvSpPr>
              <p:cNvPr id="894" name="Google Shape;894;p18"/>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5" name="Google Shape;895;p18"/>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6" name="Google Shape;896;p18"/>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7" name="Google Shape;897;p18"/>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898" name="Google Shape;898;p18"/>
            <p:cNvGrpSpPr/>
            <p:nvPr/>
          </p:nvGrpSpPr>
          <p:grpSpPr>
            <a:xfrm>
              <a:off x="342900" y="171450"/>
              <a:ext cx="1028700" cy="180718"/>
              <a:chOff x="342900" y="495300"/>
              <a:chExt cx="1409700" cy="247650"/>
            </a:xfrm>
          </p:grpSpPr>
          <p:sp>
            <p:nvSpPr>
              <p:cNvPr id="899" name="Google Shape;899;p18"/>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0" name="Google Shape;900;p18"/>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1" name="Google Shape;901;p18"/>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2" name="Google Shape;902;p18"/>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903" name="Google Shape;903;p18"/>
          <p:cNvGrpSpPr/>
          <p:nvPr/>
        </p:nvGrpSpPr>
        <p:grpSpPr>
          <a:xfrm>
            <a:off x="10722184" y="257737"/>
            <a:ext cx="705853" cy="581499"/>
            <a:chOff x="342900" y="171450"/>
            <a:chExt cx="1028700" cy="847468"/>
          </a:xfrm>
        </p:grpSpPr>
        <p:grpSp>
          <p:nvGrpSpPr>
            <p:cNvPr id="904" name="Google Shape;904;p18"/>
            <p:cNvGrpSpPr/>
            <p:nvPr/>
          </p:nvGrpSpPr>
          <p:grpSpPr>
            <a:xfrm>
              <a:off x="342900" y="504825"/>
              <a:ext cx="1028700" cy="180718"/>
              <a:chOff x="342900" y="495300"/>
              <a:chExt cx="1409700" cy="247650"/>
            </a:xfrm>
          </p:grpSpPr>
          <p:sp>
            <p:nvSpPr>
              <p:cNvPr id="905" name="Google Shape;905;p18"/>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6" name="Google Shape;906;p18"/>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7" name="Google Shape;907;p18"/>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8" name="Google Shape;908;p18"/>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09" name="Google Shape;909;p18"/>
            <p:cNvGrpSpPr/>
            <p:nvPr/>
          </p:nvGrpSpPr>
          <p:grpSpPr>
            <a:xfrm>
              <a:off x="342900" y="838200"/>
              <a:ext cx="1028700" cy="180718"/>
              <a:chOff x="342900" y="495300"/>
              <a:chExt cx="1409700" cy="247650"/>
            </a:xfrm>
          </p:grpSpPr>
          <p:sp>
            <p:nvSpPr>
              <p:cNvPr id="910" name="Google Shape;910;p18"/>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1" name="Google Shape;911;p18"/>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2" name="Google Shape;912;p18"/>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3" name="Google Shape;913;p18"/>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14" name="Google Shape;914;p18"/>
            <p:cNvGrpSpPr/>
            <p:nvPr/>
          </p:nvGrpSpPr>
          <p:grpSpPr>
            <a:xfrm>
              <a:off x="342900" y="171450"/>
              <a:ext cx="1028700" cy="180718"/>
              <a:chOff x="342900" y="495300"/>
              <a:chExt cx="1409700" cy="247650"/>
            </a:xfrm>
          </p:grpSpPr>
          <p:sp>
            <p:nvSpPr>
              <p:cNvPr id="915" name="Google Shape;915;p18"/>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6" name="Google Shape;916;p18"/>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7" name="Google Shape;917;p18"/>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8" name="Google Shape;918;p18"/>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919" name="Google Shape;919;p18"/>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0" name="Google Shape;920;p18"/>
          <p:cNvSpPr txBox="1"/>
          <p:nvPr/>
        </p:nvSpPr>
        <p:spPr>
          <a:xfrm>
            <a:off x="1731028" y="2894521"/>
            <a:ext cx="928294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Can we Predict Sleep Disorders?</a:t>
            </a:r>
            <a:endParaRPr b="1" i="0" sz="3600" u="none" cap="none" strike="noStrike">
              <a:solidFill>
                <a:schemeClr val="dk1"/>
              </a:solidFill>
              <a:latin typeface="Arial"/>
              <a:ea typeface="Arial"/>
              <a:cs typeface="Arial"/>
              <a:sym typeface="Arial"/>
            </a:endParaRPr>
          </a:p>
        </p:txBody>
      </p:sp>
      <p:sp>
        <p:nvSpPr>
          <p:cNvPr id="921" name="Google Shape;921;p18"/>
          <p:cNvSpPr/>
          <p:nvPr/>
        </p:nvSpPr>
        <p:spPr>
          <a:xfrm flipH="1" rot="-840000">
            <a:off x="4527550" y="1757201"/>
            <a:ext cx="721995" cy="721995"/>
          </a:xfrm>
          <a:prstGeom prst="ellipse">
            <a:avLst/>
          </a:prstGeom>
          <a:gradFill>
            <a:gsLst>
              <a:gs pos="0">
                <a:srgbClr val="EE8B11"/>
              </a:gs>
              <a:gs pos="9000">
                <a:srgbClr val="EE8B11"/>
              </a:gs>
              <a:gs pos="100000">
                <a:srgbClr val="FFFFFF">
                  <a:alpha val="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2" name="Google Shape;922;p18"/>
          <p:cNvSpPr txBox="1"/>
          <p:nvPr/>
        </p:nvSpPr>
        <p:spPr>
          <a:xfrm>
            <a:off x="943882" y="1840975"/>
            <a:ext cx="4120200" cy="831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2F53BA"/>
              </a:buClr>
              <a:buSzPts val="4800"/>
              <a:buFont typeface="Arial"/>
              <a:buNone/>
            </a:pPr>
            <a:r>
              <a:rPr b="1" i="0" lang="en-US" sz="4800" u="none" cap="none" strike="noStrike">
                <a:solidFill>
                  <a:srgbClr val="2F53BA"/>
                </a:solidFill>
                <a:latin typeface="Arial"/>
                <a:ea typeface="Arial"/>
                <a:cs typeface="Arial"/>
                <a:sym typeface="Arial"/>
              </a:rPr>
              <a:t>PART FIVE</a:t>
            </a:r>
            <a:endParaRPr b="0" i="0" sz="1400" u="none" cap="none" strike="noStrike">
              <a:solidFill>
                <a:srgbClr val="000000"/>
              </a:solidFill>
              <a:latin typeface="Arial"/>
              <a:ea typeface="Arial"/>
              <a:cs typeface="Arial"/>
              <a:sym typeface="Arial"/>
            </a:endParaRPr>
          </a:p>
        </p:txBody>
      </p:sp>
      <p:grpSp>
        <p:nvGrpSpPr>
          <p:cNvPr id="923" name="Google Shape;923;p18"/>
          <p:cNvGrpSpPr/>
          <p:nvPr/>
        </p:nvGrpSpPr>
        <p:grpSpPr>
          <a:xfrm>
            <a:off x="10159895" y="4066992"/>
            <a:ext cx="1032510" cy="133985"/>
            <a:chOff x="15823" y="7432"/>
            <a:chExt cx="1626" cy="211"/>
          </a:xfrm>
        </p:grpSpPr>
        <p:sp>
          <p:nvSpPr>
            <p:cNvPr id="924" name="Google Shape;924;p18"/>
            <p:cNvSpPr/>
            <p:nvPr/>
          </p:nvSpPr>
          <p:spPr>
            <a:xfrm flipH="1" rot="10800000">
              <a:off x="15823"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5" name="Google Shape;925;p18"/>
            <p:cNvSpPr/>
            <p:nvPr/>
          </p:nvSpPr>
          <p:spPr>
            <a:xfrm flipH="1" rot="10800000">
              <a:off x="16107"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6" name="Google Shape;926;p18"/>
            <p:cNvSpPr/>
            <p:nvPr/>
          </p:nvSpPr>
          <p:spPr>
            <a:xfrm flipH="1" rot="10800000">
              <a:off x="16388"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7" name="Google Shape;927;p18"/>
            <p:cNvSpPr/>
            <p:nvPr/>
          </p:nvSpPr>
          <p:spPr>
            <a:xfrm flipH="1" rot="10800000">
              <a:off x="16673"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8" name="Google Shape;928;p18"/>
            <p:cNvSpPr/>
            <p:nvPr/>
          </p:nvSpPr>
          <p:spPr>
            <a:xfrm flipH="1" rot="10800000">
              <a:off x="16957"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9" name="Google Shape;929;p18"/>
            <p:cNvSpPr/>
            <p:nvPr/>
          </p:nvSpPr>
          <p:spPr>
            <a:xfrm flipH="1" rot="10800000">
              <a:off x="17238"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9"/>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19"/>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37" name="Google Shape;937;p19"/>
          <p:cNvGrpSpPr/>
          <p:nvPr/>
        </p:nvGrpSpPr>
        <p:grpSpPr>
          <a:xfrm>
            <a:off x="178379" y="5425831"/>
            <a:ext cx="699837" cy="576543"/>
            <a:chOff x="342900" y="171450"/>
            <a:chExt cx="1028700" cy="847468"/>
          </a:xfrm>
        </p:grpSpPr>
        <p:grpSp>
          <p:nvGrpSpPr>
            <p:cNvPr id="938" name="Google Shape;938;p19"/>
            <p:cNvGrpSpPr/>
            <p:nvPr/>
          </p:nvGrpSpPr>
          <p:grpSpPr>
            <a:xfrm>
              <a:off x="342900" y="504825"/>
              <a:ext cx="1028700" cy="180718"/>
              <a:chOff x="342900" y="495300"/>
              <a:chExt cx="1409700" cy="247650"/>
            </a:xfrm>
          </p:grpSpPr>
          <p:sp>
            <p:nvSpPr>
              <p:cNvPr id="939" name="Google Shape;939;p19"/>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0" name="Google Shape;940;p19"/>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1" name="Google Shape;941;p19"/>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2" name="Google Shape;942;p19"/>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43" name="Google Shape;943;p19"/>
            <p:cNvGrpSpPr/>
            <p:nvPr/>
          </p:nvGrpSpPr>
          <p:grpSpPr>
            <a:xfrm>
              <a:off x="342900" y="838200"/>
              <a:ext cx="1028700" cy="180718"/>
              <a:chOff x="342900" y="495300"/>
              <a:chExt cx="1409700" cy="247650"/>
            </a:xfrm>
          </p:grpSpPr>
          <p:sp>
            <p:nvSpPr>
              <p:cNvPr id="944" name="Google Shape;944;p19"/>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5" name="Google Shape;945;p19"/>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6" name="Google Shape;946;p19"/>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7" name="Google Shape;947;p19"/>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48" name="Google Shape;948;p19"/>
            <p:cNvGrpSpPr/>
            <p:nvPr/>
          </p:nvGrpSpPr>
          <p:grpSpPr>
            <a:xfrm>
              <a:off x="342900" y="171450"/>
              <a:ext cx="1028700" cy="180718"/>
              <a:chOff x="342900" y="495300"/>
              <a:chExt cx="1409700" cy="247650"/>
            </a:xfrm>
          </p:grpSpPr>
          <p:sp>
            <p:nvSpPr>
              <p:cNvPr id="949" name="Google Shape;949;p19"/>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0" name="Google Shape;950;p19"/>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1" name="Google Shape;951;p19"/>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2" name="Google Shape;952;p19"/>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953" name="Google Shape;953;p19"/>
          <p:cNvGrpSpPr/>
          <p:nvPr/>
        </p:nvGrpSpPr>
        <p:grpSpPr>
          <a:xfrm>
            <a:off x="10722184" y="257737"/>
            <a:ext cx="705853" cy="581499"/>
            <a:chOff x="342900" y="171450"/>
            <a:chExt cx="1028700" cy="847468"/>
          </a:xfrm>
        </p:grpSpPr>
        <p:grpSp>
          <p:nvGrpSpPr>
            <p:cNvPr id="954" name="Google Shape;954;p19"/>
            <p:cNvGrpSpPr/>
            <p:nvPr/>
          </p:nvGrpSpPr>
          <p:grpSpPr>
            <a:xfrm>
              <a:off x="342900" y="504825"/>
              <a:ext cx="1028700" cy="180718"/>
              <a:chOff x="342900" y="495300"/>
              <a:chExt cx="1409700" cy="247650"/>
            </a:xfrm>
          </p:grpSpPr>
          <p:sp>
            <p:nvSpPr>
              <p:cNvPr id="955" name="Google Shape;955;p19"/>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6" name="Google Shape;956;p19"/>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7" name="Google Shape;957;p19"/>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8" name="Google Shape;958;p19"/>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59" name="Google Shape;959;p19"/>
            <p:cNvGrpSpPr/>
            <p:nvPr/>
          </p:nvGrpSpPr>
          <p:grpSpPr>
            <a:xfrm>
              <a:off x="342900" y="838200"/>
              <a:ext cx="1028700" cy="180718"/>
              <a:chOff x="342900" y="495300"/>
              <a:chExt cx="1409700" cy="247650"/>
            </a:xfrm>
          </p:grpSpPr>
          <p:sp>
            <p:nvSpPr>
              <p:cNvPr id="960" name="Google Shape;960;p19"/>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1" name="Google Shape;961;p19"/>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2" name="Google Shape;962;p19"/>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3" name="Google Shape;963;p19"/>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64" name="Google Shape;964;p19"/>
            <p:cNvGrpSpPr/>
            <p:nvPr/>
          </p:nvGrpSpPr>
          <p:grpSpPr>
            <a:xfrm>
              <a:off x="342900" y="171450"/>
              <a:ext cx="1028700" cy="180718"/>
              <a:chOff x="342900" y="495300"/>
              <a:chExt cx="1409700" cy="247650"/>
            </a:xfrm>
          </p:grpSpPr>
          <p:sp>
            <p:nvSpPr>
              <p:cNvPr id="965" name="Google Shape;965;p19"/>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6" name="Google Shape;966;p19"/>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7" name="Google Shape;967;p19"/>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8" name="Google Shape;968;p19"/>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969" name="Google Shape;969;p19"/>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0" name="Google Shape;970;p19"/>
          <p:cNvSpPr txBox="1"/>
          <p:nvPr/>
        </p:nvSpPr>
        <p:spPr>
          <a:xfrm>
            <a:off x="657899" y="529970"/>
            <a:ext cx="1096512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1" lang="en-US" sz="2400" u="none" cap="none" strike="noStrike">
                <a:solidFill>
                  <a:schemeClr val="dk1"/>
                </a:solidFill>
                <a:latin typeface="Arial"/>
                <a:ea typeface="Arial"/>
                <a:cs typeface="Arial"/>
                <a:sym typeface="Arial"/>
              </a:rPr>
              <a:t>Which model performs best in predicting sleep disorders?</a:t>
            </a:r>
            <a:endParaRPr b="1" i="1" sz="2400" u="none" cap="none" strike="noStrike">
              <a:solidFill>
                <a:schemeClr val="dk1"/>
              </a:solidFill>
              <a:latin typeface="Arial"/>
              <a:ea typeface="Arial"/>
              <a:cs typeface="Arial"/>
              <a:sym typeface="Arial"/>
            </a:endParaRPr>
          </a:p>
        </p:txBody>
      </p:sp>
      <p:sp>
        <p:nvSpPr>
          <p:cNvPr id="971" name="Google Shape;971;p19"/>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72" name="Google Shape;972;p19"/>
          <p:cNvSpPr/>
          <p:nvPr/>
        </p:nvSpPr>
        <p:spPr>
          <a:xfrm>
            <a:off x="1267800" y="1243149"/>
            <a:ext cx="9815636" cy="87197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We compared six machine learning models using accuracy as the evaluation metric.</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973" name="Google Shape;973;p19"/>
          <p:cNvPicPr preferRelativeResize="0"/>
          <p:nvPr/>
        </p:nvPicPr>
        <p:blipFill rotWithShape="1">
          <a:blip r:embed="rId3">
            <a:alphaModFix/>
          </a:blip>
          <a:srcRect b="0" l="0" r="0" t="0"/>
          <a:stretch/>
        </p:blipFill>
        <p:spPr>
          <a:xfrm>
            <a:off x="2209800" y="1891105"/>
            <a:ext cx="7772400" cy="3285053"/>
          </a:xfrm>
          <a:prstGeom prst="rect">
            <a:avLst/>
          </a:prstGeom>
          <a:noFill/>
          <a:ln>
            <a:noFill/>
          </a:ln>
        </p:spPr>
      </p:pic>
      <p:sp>
        <p:nvSpPr>
          <p:cNvPr id="974" name="Google Shape;974;p19"/>
          <p:cNvSpPr/>
          <p:nvPr/>
        </p:nvSpPr>
        <p:spPr>
          <a:xfrm>
            <a:off x="1488400" y="4848181"/>
            <a:ext cx="9815636" cy="129458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Gradient Boosting and Decision Tree performed the best, achieving 93% and 91.6% accuracy, making them strong candidates for sleep disorder prediction.</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20"/>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1" name="Google Shape;981;p20"/>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82" name="Google Shape;982;p20"/>
          <p:cNvGrpSpPr/>
          <p:nvPr/>
        </p:nvGrpSpPr>
        <p:grpSpPr>
          <a:xfrm>
            <a:off x="178379" y="5425831"/>
            <a:ext cx="699837" cy="576543"/>
            <a:chOff x="342900" y="171450"/>
            <a:chExt cx="1028700" cy="847468"/>
          </a:xfrm>
        </p:grpSpPr>
        <p:grpSp>
          <p:nvGrpSpPr>
            <p:cNvPr id="983" name="Google Shape;983;p20"/>
            <p:cNvGrpSpPr/>
            <p:nvPr/>
          </p:nvGrpSpPr>
          <p:grpSpPr>
            <a:xfrm>
              <a:off x="342900" y="504825"/>
              <a:ext cx="1028700" cy="180718"/>
              <a:chOff x="342900" y="495300"/>
              <a:chExt cx="1409700" cy="247650"/>
            </a:xfrm>
          </p:grpSpPr>
          <p:sp>
            <p:nvSpPr>
              <p:cNvPr id="984" name="Google Shape;984;p20"/>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5" name="Google Shape;985;p20"/>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6" name="Google Shape;986;p20"/>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7" name="Google Shape;987;p20"/>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88" name="Google Shape;988;p20"/>
            <p:cNvGrpSpPr/>
            <p:nvPr/>
          </p:nvGrpSpPr>
          <p:grpSpPr>
            <a:xfrm>
              <a:off x="342900" y="838200"/>
              <a:ext cx="1028700" cy="180718"/>
              <a:chOff x="342900" y="495300"/>
              <a:chExt cx="1409700" cy="247650"/>
            </a:xfrm>
          </p:grpSpPr>
          <p:sp>
            <p:nvSpPr>
              <p:cNvPr id="989" name="Google Shape;989;p20"/>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0" name="Google Shape;990;p20"/>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1" name="Google Shape;991;p20"/>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2" name="Google Shape;992;p20"/>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993" name="Google Shape;993;p20"/>
            <p:cNvGrpSpPr/>
            <p:nvPr/>
          </p:nvGrpSpPr>
          <p:grpSpPr>
            <a:xfrm>
              <a:off x="342900" y="171450"/>
              <a:ext cx="1028700" cy="180718"/>
              <a:chOff x="342900" y="495300"/>
              <a:chExt cx="1409700" cy="247650"/>
            </a:xfrm>
          </p:grpSpPr>
          <p:sp>
            <p:nvSpPr>
              <p:cNvPr id="994" name="Google Shape;994;p20"/>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5" name="Google Shape;995;p20"/>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6" name="Google Shape;996;p20"/>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7" name="Google Shape;997;p20"/>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998" name="Google Shape;998;p20"/>
          <p:cNvGrpSpPr/>
          <p:nvPr/>
        </p:nvGrpSpPr>
        <p:grpSpPr>
          <a:xfrm>
            <a:off x="10722184" y="257737"/>
            <a:ext cx="705853" cy="581499"/>
            <a:chOff x="342900" y="171450"/>
            <a:chExt cx="1028700" cy="847468"/>
          </a:xfrm>
        </p:grpSpPr>
        <p:grpSp>
          <p:nvGrpSpPr>
            <p:cNvPr id="999" name="Google Shape;999;p20"/>
            <p:cNvGrpSpPr/>
            <p:nvPr/>
          </p:nvGrpSpPr>
          <p:grpSpPr>
            <a:xfrm>
              <a:off x="342900" y="504825"/>
              <a:ext cx="1028700" cy="180718"/>
              <a:chOff x="342900" y="495300"/>
              <a:chExt cx="1409700" cy="247650"/>
            </a:xfrm>
          </p:grpSpPr>
          <p:sp>
            <p:nvSpPr>
              <p:cNvPr id="1000" name="Google Shape;1000;p20"/>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1" name="Google Shape;1001;p20"/>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2" name="Google Shape;1002;p20"/>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3" name="Google Shape;1003;p20"/>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04" name="Google Shape;1004;p20"/>
            <p:cNvGrpSpPr/>
            <p:nvPr/>
          </p:nvGrpSpPr>
          <p:grpSpPr>
            <a:xfrm>
              <a:off x="342900" y="838200"/>
              <a:ext cx="1028700" cy="180718"/>
              <a:chOff x="342900" y="495300"/>
              <a:chExt cx="1409700" cy="247650"/>
            </a:xfrm>
          </p:grpSpPr>
          <p:sp>
            <p:nvSpPr>
              <p:cNvPr id="1005" name="Google Shape;1005;p20"/>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6" name="Google Shape;1006;p20"/>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7" name="Google Shape;1007;p20"/>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8" name="Google Shape;1008;p20"/>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09" name="Google Shape;1009;p20"/>
            <p:cNvGrpSpPr/>
            <p:nvPr/>
          </p:nvGrpSpPr>
          <p:grpSpPr>
            <a:xfrm>
              <a:off x="342900" y="171450"/>
              <a:ext cx="1028700" cy="180718"/>
              <a:chOff x="342900" y="495300"/>
              <a:chExt cx="1409700" cy="247650"/>
            </a:xfrm>
          </p:grpSpPr>
          <p:sp>
            <p:nvSpPr>
              <p:cNvPr id="1010" name="Google Shape;1010;p20"/>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1" name="Google Shape;1011;p20"/>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2" name="Google Shape;1012;p20"/>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3" name="Google Shape;1013;p20"/>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014" name="Google Shape;1014;p20"/>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5" name="Google Shape;1015;p20"/>
          <p:cNvSpPr txBox="1"/>
          <p:nvPr/>
        </p:nvSpPr>
        <p:spPr>
          <a:xfrm>
            <a:off x="657899" y="529970"/>
            <a:ext cx="1096512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Key Drivers of Sleep Disorders</a:t>
            </a:r>
            <a:endParaRPr b="1" i="1" sz="2400" u="none" cap="none" strike="noStrike">
              <a:solidFill>
                <a:schemeClr val="dk1"/>
              </a:solidFill>
              <a:latin typeface="Arial"/>
              <a:ea typeface="Arial"/>
              <a:cs typeface="Arial"/>
              <a:sym typeface="Arial"/>
            </a:endParaRPr>
          </a:p>
        </p:txBody>
      </p:sp>
      <p:sp>
        <p:nvSpPr>
          <p:cNvPr id="1016" name="Google Shape;1016;p20"/>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17" name="Google Shape;1017;p20"/>
          <p:cNvSpPr/>
          <p:nvPr/>
        </p:nvSpPr>
        <p:spPr>
          <a:xfrm>
            <a:off x="1488400" y="5074094"/>
            <a:ext cx="9815636" cy="87908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Feature importance analysis reveals that lifestyle factors, especially stress, sleep duration, and activity level, are strong predictors of sleep disorders.</a:t>
            </a:r>
            <a:endParaRPr b="0" i="0" sz="1400" u="none" cap="none" strike="noStrike">
              <a:solidFill>
                <a:srgbClr val="000000"/>
              </a:solidFill>
              <a:latin typeface="Arial"/>
              <a:ea typeface="Arial"/>
              <a:cs typeface="Arial"/>
              <a:sym typeface="Arial"/>
            </a:endParaRPr>
          </a:p>
        </p:txBody>
      </p:sp>
      <p:pic>
        <p:nvPicPr>
          <p:cNvPr id="1018" name="Google Shape;1018;p20"/>
          <p:cNvPicPr preferRelativeResize="0"/>
          <p:nvPr/>
        </p:nvPicPr>
        <p:blipFill rotWithShape="1">
          <a:blip r:embed="rId3">
            <a:alphaModFix/>
          </a:blip>
          <a:srcRect b="0" l="0" r="0" t="0"/>
          <a:stretch/>
        </p:blipFill>
        <p:spPr>
          <a:xfrm>
            <a:off x="2023029" y="1306379"/>
            <a:ext cx="8746377" cy="3658704"/>
          </a:xfrm>
          <a:prstGeom prst="rect">
            <a:avLst/>
          </a:prstGeom>
          <a:noFill/>
          <a:ln>
            <a:noFill/>
          </a:ln>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21"/>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4" name="Google Shape;1024;p21"/>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25" name="Google Shape;1025;p21"/>
          <p:cNvGrpSpPr/>
          <p:nvPr/>
        </p:nvGrpSpPr>
        <p:grpSpPr>
          <a:xfrm>
            <a:off x="178379" y="5425831"/>
            <a:ext cx="699837" cy="576543"/>
            <a:chOff x="342900" y="171450"/>
            <a:chExt cx="1028700" cy="847468"/>
          </a:xfrm>
        </p:grpSpPr>
        <p:grpSp>
          <p:nvGrpSpPr>
            <p:cNvPr id="1026" name="Google Shape;1026;p21"/>
            <p:cNvGrpSpPr/>
            <p:nvPr/>
          </p:nvGrpSpPr>
          <p:grpSpPr>
            <a:xfrm>
              <a:off x="342900" y="504825"/>
              <a:ext cx="1028700" cy="180718"/>
              <a:chOff x="342900" y="495300"/>
              <a:chExt cx="1409700" cy="247650"/>
            </a:xfrm>
          </p:grpSpPr>
          <p:sp>
            <p:nvSpPr>
              <p:cNvPr id="1027" name="Google Shape;1027;p2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8" name="Google Shape;1028;p2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9" name="Google Shape;1029;p2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0" name="Google Shape;1030;p2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31" name="Google Shape;1031;p21"/>
            <p:cNvGrpSpPr/>
            <p:nvPr/>
          </p:nvGrpSpPr>
          <p:grpSpPr>
            <a:xfrm>
              <a:off x="342900" y="838200"/>
              <a:ext cx="1028700" cy="180718"/>
              <a:chOff x="342900" y="495300"/>
              <a:chExt cx="1409700" cy="247650"/>
            </a:xfrm>
          </p:grpSpPr>
          <p:sp>
            <p:nvSpPr>
              <p:cNvPr id="1032" name="Google Shape;1032;p2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3" name="Google Shape;1033;p2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4" name="Google Shape;1034;p2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5" name="Google Shape;1035;p2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36" name="Google Shape;1036;p21"/>
            <p:cNvGrpSpPr/>
            <p:nvPr/>
          </p:nvGrpSpPr>
          <p:grpSpPr>
            <a:xfrm>
              <a:off x="342900" y="171450"/>
              <a:ext cx="1028700" cy="180718"/>
              <a:chOff x="342900" y="495300"/>
              <a:chExt cx="1409700" cy="247650"/>
            </a:xfrm>
          </p:grpSpPr>
          <p:sp>
            <p:nvSpPr>
              <p:cNvPr id="1037" name="Google Shape;1037;p21"/>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8" name="Google Shape;1038;p21"/>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9" name="Google Shape;1039;p21"/>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0" name="Google Shape;1040;p21"/>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1041" name="Google Shape;1041;p21"/>
          <p:cNvGrpSpPr/>
          <p:nvPr/>
        </p:nvGrpSpPr>
        <p:grpSpPr>
          <a:xfrm>
            <a:off x="10722184" y="257737"/>
            <a:ext cx="705853" cy="581499"/>
            <a:chOff x="342900" y="171450"/>
            <a:chExt cx="1028700" cy="847468"/>
          </a:xfrm>
        </p:grpSpPr>
        <p:grpSp>
          <p:nvGrpSpPr>
            <p:cNvPr id="1042" name="Google Shape;1042;p21"/>
            <p:cNvGrpSpPr/>
            <p:nvPr/>
          </p:nvGrpSpPr>
          <p:grpSpPr>
            <a:xfrm>
              <a:off x="342900" y="504825"/>
              <a:ext cx="1028700" cy="180718"/>
              <a:chOff x="342900" y="495300"/>
              <a:chExt cx="1409700" cy="247650"/>
            </a:xfrm>
          </p:grpSpPr>
          <p:sp>
            <p:nvSpPr>
              <p:cNvPr id="1043" name="Google Shape;1043;p2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4" name="Google Shape;1044;p2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5" name="Google Shape;1045;p2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6" name="Google Shape;1046;p2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47" name="Google Shape;1047;p21"/>
            <p:cNvGrpSpPr/>
            <p:nvPr/>
          </p:nvGrpSpPr>
          <p:grpSpPr>
            <a:xfrm>
              <a:off x="342900" y="838200"/>
              <a:ext cx="1028700" cy="180718"/>
              <a:chOff x="342900" y="495300"/>
              <a:chExt cx="1409700" cy="247650"/>
            </a:xfrm>
          </p:grpSpPr>
          <p:sp>
            <p:nvSpPr>
              <p:cNvPr id="1048" name="Google Shape;1048;p2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9" name="Google Shape;1049;p2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0" name="Google Shape;1050;p2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1" name="Google Shape;1051;p2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52" name="Google Shape;1052;p21"/>
            <p:cNvGrpSpPr/>
            <p:nvPr/>
          </p:nvGrpSpPr>
          <p:grpSpPr>
            <a:xfrm>
              <a:off x="342900" y="171450"/>
              <a:ext cx="1028700" cy="180718"/>
              <a:chOff x="342900" y="495300"/>
              <a:chExt cx="1409700" cy="247650"/>
            </a:xfrm>
          </p:grpSpPr>
          <p:sp>
            <p:nvSpPr>
              <p:cNvPr id="1053" name="Google Shape;1053;p21"/>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4" name="Google Shape;1054;p21"/>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5" name="Google Shape;1055;p21"/>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6" name="Google Shape;1056;p21"/>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057" name="Google Shape;1057;p21"/>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8" name="Google Shape;1058;p21"/>
          <p:cNvSpPr txBox="1"/>
          <p:nvPr/>
        </p:nvSpPr>
        <p:spPr>
          <a:xfrm>
            <a:off x="1731028" y="2894521"/>
            <a:ext cx="918510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Conclusion &amp; Recommendation</a:t>
            </a:r>
            <a:endParaRPr b="1" i="0" sz="3600" u="none" cap="none" strike="noStrike">
              <a:solidFill>
                <a:schemeClr val="dk1"/>
              </a:solidFill>
              <a:latin typeface="Arial"/>
              <a:ea typeface="Arial"/>
              <a:cs typeface="Arial"/>
              <a:sym typeface="Arial"/>
            </a:endParaRPr>
          </a:p>
        </p:txBody>
      </p:sp>
      <p:sp>
        <p:nvSpPr>
          <p:cNvPr id="1059" name="Google Shape;1059;p21"/>
          <p:cNvSpPr/>
          <p:nvPr/>
        </p:nvSpPr>
        <p:spPr>
          <a:xfrm flipH="1" rot="-840000">
            <a:off x="4307210" y="1757201"/>
            <a:ext cx="721995" cy="721995"/>
          </a:xfrm>
          <a:prstGeom prst="ellipse">
            <a:avLst/>
          </a:prstGeom>
          <a:gradFill>
            <a:gsLst>
              <a:gs pos="0">
                <a:srgbClr val="EE8B11"/>
              </a:gs>
              <a:gs pos="9000">
                <a:srgbClr val="EE8B11"/>
              </a:gs>
              <a:gs pos="100000">
                <a:srgbClr val="FFFFFF">
                  <a:alpha val="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0" name="Google Shape;1060;p21"/>
          <p:cNvSpPr txBox="1"/>
          <p:nvPr/>
        </p:nvSpPr>
        <p:spPr>
          <a:xfrm>
            <a:off x="1731028" y="1894167"/>
            <a:ext cx="3003130"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2F53BA"/>
              </a:buClr>
              <a:buSzPts val="4800"/>
              <a:buFont typeface="Arial"/>
              <a:buNone/>
            </a:pPr>
            <a:r>
              <a:rPr b="1" i="0" lang="en-US" sz="4800" u="none" cap="none" strike="noStrike">
                <a:solidFill>
                  <a:srgbClr val="2F53BA"/>
                </a:solidFill>
                <a:latin typeface="Arial"/>
                <a:ea typeface="Arial"/>
                <a:cs typeface="Arial"/>
                <a:sym typeface="Arial"/>
              </a:rPr>
              <a:t>PART SIX</a:t>
            </a:r>
            <a:endParaRPr b="1" i="0" sz="4800" u="none" cap="none" strike="noStrike">
              <a:solidFill>
                <a:srgbClr val="2F53BA"/>
              </a:solidFill>
              <a:latin typeface="Arial"/>
              <a:ea typeface="Arial"/>
              <a:cs typeface="Arial"/>
              <a:sym typeface="Arial"/>
            </a:endParaRPr>
          </a:p>
        </p:txBody>
      </p:sp>
      <p:grpSp>
        <p:nvGrpSpPr>
          <p:cNvPr id="1061" name="Google Shape;1061;p21"/>
          <p:cNvGrpSpPr/>
          <p:nvPr/>
        </p:nvGrpSpPr>
        <p:grpSpPr>
          <a:xfrm>
            <a:off x="10159895" y="4066992"/>
            <a:ext cx="1032510" cy="133985"/>
            <a:chOff x="15823" y="7432"/>
            <a:chExt cx="1626" cy="211"/>
          </a:xfrm>
        </p:grpSpPr>
        <p:sp>
          <p:nvSpPr>
            <p:cNvPr id="1062" name="Google Shape;1062;p21"/>
            <p:cNvSpPr/>
            <p:nvPr/>
          </p:nvSpPr>
          <p:spPr>
            <a:xfrm flipH="1" rot="10800000">
              <a:off x="15823"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3" name="Google Shape;1063;p21"/>
            <p:cNvSpPr/>
            <p:nvPr/>
          </p:nvSpPr>
          <p:spPr>
            <a:xfrm flipH="1" rot="10800000">
              <a:off x="16107"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4" name="Google Shape;1064;p21"/>
            <p:cNvSpPr/>
            <p:nvPr/>
          </p:nvSpPr>
          <p:spPr>
            <a:xfrm flipH="1" rot="10800000">
              <a:off x="16388"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5" name="Google Shape;1065;p21"/>
            <p:cNvSpPr/>
            <p:nvPr/>
          </p:nvSpPr>
          <p:spPr>
            <a:xfrm flipH="1" rot="10800000">
              <a:off x="16673"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6" name="Google Shape;1066;p21"/>
            <p:cNvSpPr/>
            <p:nvPr/>
          </p:nvSpPr>
          <p:spPr>
            <a:xfrm flipH="1" rot="10800000">
              <a:off x="16957" y="7432"/>
              <a:ext cx="211" cy="211"/>
            </a:xfrm>
            <a:prstGeom prst="ellipse">
              <a:avLst/>
            </a:prstGeom>
            <a:solidFill>
              <a:srgbClr val="2F53BA"/>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7" name="Google Shape;1067;p21"/>
            <p:cNvSpPr/>
            <p:nvPr/>
          </p:nvSpPr>
          <p:spPr>
            <a:xfrm flipH="1" rot="10800000">
              <a:off x="17238" y="7432"/>
              <a:ext cx="211" cy="211"/>
            </a:xfrm>
            <a:prstGeom prst="ellipse">
              <a:avLst/>
            </a:prstGeom>
            <a:solidFill>
              <a:srgbClr val="FFB717"/>
            </a:solidFill>
            <a:ln>
              <a:noFill/>
            </a:ln>
            <a:effectLst>
              <a:outerShdw blurRad="63500" sx="102000" rotWithShape="0" algn="ctr" sy="102000">
                <a:srgbClr val="AEABAB">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2"/>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3" name="Google Shape;1073;p22"/>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74" name="Google Shape;1074;p22"/>
          <p:cNvGrpSpPr/>
          <p:nvPr/>
        </p:nvGrpSpPr>
        <p:grpSpPr>
          <a:xfrm>
            <a:off x="178379" y="5425831"/>
            <a:ext cx="699837" cy="576543"/>
            <a:chOff x="342900" y="171450"/>
            <a:chExt cx="1028700" cy="847468"/>
          </a:xfrm>
        </p:grpSpPr>
        <p:grpSp>
          <p:nvGrpSpPr>
            <p:cNvPr id="1075" name="Google Shape;1075;p22"/>
            <p:cNvGrpSpPr/>
            <p:nvPr/>
          </p:nvGrpSpPr>
          <p:grpSpPr>
            <a:xfrm>
              <a:off x="342900" y="504825"/>
              <a:ext cx="1028700" cy="180718"/>
              <a:chOff x="342900" y="495300"/>
              <a:chExt cx="1409700" cy="247650"/>
            </a:xfrm>
          </p:grpSpPr>
          <p:sp>
            <p:nvSpPr>
              <p:cNvPr id="1076" name="Google Shape;1076;p2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7" name="Google Shape;1077;p2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8" name="Google Shape;1078;p2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9" name="Google Shape;1079;p2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80" name="Google Shape;1080;p22"/>
            <p:cNvGrpSpPr/>
            <p:nvPr/>
          </p:nvGrpSpPr>
          <p:grpSpPr>
            <a:xfrm>
              <a:off x="342900" y="838200"/>
              <a:ext cx="1028700" cy="180718"/>
              <a:chOff x="342900" y="495300"/>
              <a:chExt cx="1409700" cy="247650"/>
            </a:xfrm>
          </p:grpSpPr>
          <p:sp>
            <p:nvSpPr>
              <p:cNvPr id="1081" name="Google Shape;1081;p2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2" name="Google Shape;1082;p2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3" name="Google Shape;1083;p2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4" name="Google Shape;1084;p2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85" name="Google Shape;1085;p22"/>
            <p:cNvGrpSpPr/>
            <p:nvPr/>
          </p:nvGrpSpPr>
          <p:grpSpPr>
            <a:xfrm>
              <a:off x="342900" y="171450"/>
              <a:ext cx="1028700" cy="180718"/>
              <a:chOff x="342900" y="495300"/>
              <a:chExt cx="1409700" cy="247650"/>
            </a:xfrm>
          </p:grpSpPr>
          <p:sp>
            <p:nvSpPr>
              <p:cNvPr id="1086" name="Google Shape;1086;p22"/>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7" name="Google Shape;1087;p22"/>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8" name="Google Shape;1088;p22"/>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9" name="Google Shape;1089;p22"/>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1090" name="Google Shape;1090;p22"/>
          <p:cNvGrpSpPr/>
          <p:nvPr/>
        </p:nvGrpSpPr>
        <p:grpSpPr>
          <a:xfrm>
            <a:off x="10722184" y="257737"/>
            <a:ext cx="705853" cy="581499"/>
            <a:chOff x="342900" y="171450"/>
            <a:chExt cx="1028700" cy="847468"/>
          </a:xfrm>
        </p:grpSpPr>
        <p:grpSp>
          <p:nvGrpSpPr>
            <p:cNvPr id="1091" name="Google Shape;1091;p22"/>
            <p:cNvGrpSpPr/>
            <p:nvPr/>
          </p:nvGrpSpPr>
          <p:grpSpPr>
            <a:xfrm>
              <a:off x="342900" y="504825"/>
              <a:ext cx="1028700" cy="180718"/>
              <a:chOff x="342900" y="495300"/>
              <a:chExt cx="1409700" cy="247650"/>
            </a:xfrm>
          </p:grpSpPr>
          <p:sp>
            <p:nvSpPr>
              <p:cNvPr id="1092" name="Google Shape;1092;p2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3" name="Google Shape;1093;p2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4" name="Google Shape;1094;p2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5" name="Google Shape;1095;p2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096" name="Google Shape;1096;p22"/>
            <p:cNvGrpSpPr/>
            <p:nvPr/>
          </p:nvGrpSpPr>
          <p:grpSpPr>
            <a:xfrm>
              <a:off x="342900" y="838200"/>
              <a:ext cx="1028700" cy="180718"/>
              <a:chOff x="342900" y="495300"/>
              <a:chExt cx="1409700" cy="247650"/>
            </a:xfrm>
          </p:grpSpPr>
          <p:sp>
            <p:nvSpPr>
              <p:cNvPr id="1097" name="Google Shape;1097;p2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8" name="Google Shape;1098;p2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9" name="Google Shape;1099;p2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0" name="Google Shape;1100;p2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01" name="Google Shape;1101;p22"/>
            <p:cNvGrpSpPr/>
            <p:nvPr/>
          </p:nvGrpSpPr>
          <p:grpSpPr>
            <a:xfrm>
              <a:off x="342900" y="171450"/>
              <a:ext cx="1028700" cy="180718"/>
              <a:chOff x="342900" y="495300"/>
              <a:chExt cx="1409700" cy="247650"/>
            </a:xfrm>
          </p:grpSpPr>
          <p:sp>
            <p:nvSpPr>
              <p:cNvPr id="1102" name="Google Shape;1102;p22"/>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3" name="Google Shape;1103;p22"/>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4" name="Google Shape;1104;p22"/>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5" name="Google Shape;1105;p22"/>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106" name="Google Shape;1106;p22"/>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7" name="Google Shape;1107;p22"/>
          <p:cNvSpPr txBox="1"/>
          <p:nvPr/>
        </p:nvSpPr>
        <p:spPr>
          <a:xfrm>
            <a:off x="878215" y="520685"/>
            <a:ext cx="628637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Conclusion &amp; Business Value</a:t>
            </a:r>
            <a:endParaRPr b="1" i="0" sz="2800" u="none" cap="none" strike="noStrike">
              <a:solidFill>
                <a:schemeClr val="dk1"/>
              </a:solidFill>
              <a:latin typeface="Arial"/>
              <a:ea typeface="Arial"/>
              <a:cs typeface="Arial"/>
              <a:sym typeface="Arial"/>
            </a:endParaRPr>
          </a:p>
        </p:txBody>
      </p:sp>
      <p:sp>
        <p:nvSpPr>
          <p:cNvPr id="1108" name="Google Shape;1108;p22"/>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1109" name="Google Shape;1109;p22"/>
          <p:cNvGrpSpPr/>
          <p:nvPr/>
        </p:nvGrpSpPr>
        <p:grpSpPr>
          <a:xfrm>
            <a:off x="1648760" y="1324931"/>
            <a:ext cx="9721215" cy="4492625"/>
            <a:chOff x="2132" y="3496"/>
            <a:chExt cx="15309" cy="7075"/>
          </a:xfrm>
        </p:grpSpPr>
        <p:sp>
          <p:nvSpPr>
            <p:cNvPr id="1110" name="Google Shape;1110;p22"/>
            <p:cNvSpPr/>
            <p:nvPr/>
          </p:nvSpPr>
          <p:spPr>
            <a:xfrm>
              <a:off x="2730" y="3555"/>
              <a:ext cx="3210" cy="707"/>
            </a:xfrm>
            <a:custGeom>
              <a:rect b="b" l="l" r="r" t="t"/>
              <a:pathLst>
                <a:path extrusionOk="0" h="360040" w="4464496">
                  <a:moveTo>
                    <a:pt x="0" y="0"/>
                  </a:moveTo>
                  <a:lnTo>
                    <a:pt x="4464496" y="0"/>
                  </a:lnTo>
                  <a:lnTo>
                    <a:pt x="4464496" y="360040"/>
                  </a:lnTo>
                  <a:lnTo>
                    <a:pt x="0" y="354871"/>
                  </a:lnTo>
                  <a:close/>
                </a:path>
              </a:pathLst>
            </a:custGeom>
            <a:solidFill>
              <a:srgbClr val="FFB7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  </a:t>
              </a:r>
              <a:r>
                <a:rPr b="1" i="0" lang="en-US" sz="1800" u="none" cap="none" strike="noStrike">
                  <a:solidFill>
                    <a:schemeClr val="lt1"/>
                  </a:solidFill>
                  <a:latin typeface="Arial"/>
                  <a:ea typeface="Arial"/>
                  <a:cs typeface="Arial"/>
                  <a:sym typeface="Arial"/>
                </a:rPr>
                <a:t>Conclusion</a:t>
              </a:r>
              <a:endParaRPr b="1" i="0" sz="1800" u="none" cap="none" strike="noStrike">
                <a:solidFill>
                  <a:schemeClr val="lt1"/>
                </a:solidFill>
                <a:latin typeface="Arial"/>
                <a:ea typeface="Arial"/>
                <a:cs typeface="Arial"/>
                <a:sym typeface="Arial"/>
              </a:endParaRPr>
            </a:p>
          </p:txBody>
        </p:sp>
        <p:sp>
          <p:nvSpPr>
            <p:cNvPr id="1111" name="Google Shape;1111;p22"/>
            <p:cNvSpPr/>
            <p:nvPr/>
          </p:nvSpPr>
          <p:spPr>
            <a:xfrm>
              <a:off x="2132" y="3496"/>
              <a:ext cx="826" cy="826"/>
            </a:xfrm>
            <a:prstGeom prst="ellipse">
              <a:avLst/>
            </a:prstGeom>
            <a:solidFill>
              <a:srgbClr val="FFB717"/>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Arial"/>
                <a:ea typeface="Arial"/>
                <a:cs typeface="Arial"/>
                <a:sym typeface="Arial"/>
              </a:endParaRPr>
            </a:p>
          </p:txBody>
        </p:sp>
        <p:sp>
          <p:nvSpPr>
            <p:cNvPr id="1112" name="Google Shape;1112;p22"/>
            <p:cNvSpPr txBox="1"/>
            <p:nvPr/>
          </p:nvSpPr>
          <p:spPr>
            <a:xfrm>
              <a:off x="2141" y="4351"/>
              <a:ext cx="15300" cy="24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262626"/>
                </a:buClr>
                <a:buSzPts val="1600"/>
                <a:buFont typeface="Arial"/>
                <a:buChar char="•"/>
              </a:pPr>
              <a:r>
                <a:rPr b="0" i="0" lang="en-US" sz="1600" u="none" cap="none" strike="noStrike">
                  <a:solidFill>
                    <a:srgbClr val="262626"/>
                  </a:solidFill>
                  <a:latin typeface="Arial"/>
                  <a:ea typeface="Arial"/>
                  <a:cs typeface="Arial"/>
                  <a:sym typeface="Arial"/>
                </a:rPr>
                <a:t>Sleep disorders are strongly correlated with stress, sleep duration, caffeine, and digital exposure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262626"/>
                </a:buClr>
                <a:buSzPts val="1600"/>
                <a:buFont typeface="Arial"/>
                <a:buChar char="•"/>
              </a:pPr>
              <a:r>
                <a:rPr b="0" i="0" lang="en-US" sz="1600" u="none" cap="none" strike="noStrike">
                  <a:solidFill>
                    <a:srgbClr val="262626"/>
                  </a:solidFill>
                  <a:latin typeface="Arial"/>
                  <a:ea typeface="Arial"/>
                  <a:cs typeface="Arial"/>
                  <a:sym typeface="Arial"/>
                </a:rPr>
                <a:t>Circadian Risk Score captures lifestyle-based risk effectively</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262626"/>
                </a:buClr>
                <a:buSzPts val="1600"/>
                <a:buFont typeface="Arial"/>
                <a:buChar char="•"/>
              </a:pPr>
              <a:r>
                <a:rPr b="0" i="0" lang="en-US" sz="1600" u="none" cap="none" strike="noStrike">
                  <a:solidFill>
                    <a:srgbClr val="262626"/>
                  </a:solidFill>
                  <a:latin typeface="Arial"/>
                  <a:ea typeface="Arial"/>
                  <a:cs typeface="Arial"/>
                  <a:sym typeface="Arial"/>
                </a:rPr>
                <a:t>Individuals can be meaningfully grouped into high, moderate, and low risk lifestyle profiles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262626"/>
                </a:buClr>
                <a:buSzPts val="1600"/>
                <a:buFont typeface="Arial"/>
                <a:buChar char="•"/>
              </a:pPr>
              <a:r>
                <a:rPr b="0" i="0" lang="en-US" sz="1600" u="none" cap="none" strike="noStrike">
                  <a:solidFill>
                    <a:srgbClr val="262626"/>
                  </a:solidFill>
                  <a:latin typeface="Arial"/>
                  <a:ea typeface="Arial"/>
                  <a:cs typeface="Arial"/>
                  <a:sym typeface="Arial"/>
                </a:rPr>
                <a:t>Certain occupations (Healthcare, Legal) are more likely to fall into high-risk clusters</a:t>
              </a:r>
              <a:endParaRPr b="0" i="0" sz="1600" u="none" cap="none" strike="noStrike">
                <a:solidFill>
                  <a:srgbClr val="262626"/>
                </a:solidFill>
                <a:latin typeface="Arial"/>
                <a:ea typeface="Arial"/>
                <a:cs typeface="Arial"/>
                <a:sym typeface="Arial"/>
              </a:endParaRPr>
            </a:p>
          </p:txBody>
        </p:sp>
        <p:sp>
          <p:nvSpPr>
            <p:cNvPr id="1113" name="Google Shape;1113;p22"/>
            <p:cNvSpPr/>
            <p:nvPr/>
          </p:nvSpPr>
          <p:spPr>
            <a:xfrm>
              <a:off x="2730" y="7244"/>
              <a:ext cx="3210" cy="707"/>
            </a:xfrm>
            <a:custGeom>
              <a:rect b="b" l="l" r="r" t="t"/>
              <a:pathLst>
                <a:path extrusionOk="0" h="360040" w="4464496">
                  <a:moveTo>
                    <a:pt x="0" y="0"/>
                  </a:moveTo>
                  <a:lnTo>
                    <a:pt x="4464496" y="0"/>
                  </a:lnTo>
                  <a:lnTo>
                    <a:pt x="4464496" y="360040"/>
                  </a:lnTo>
                  <a:lnTo>
                    <a:pt x="0" y="354871"/>
                  </a:lnTo>
                  <a:close/>
                </a:path>
              </a:pathLst>
            </a:cu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  Business Value</a:t>
              </a:r>
              <a:endParaRPr b="1" i="0" sz="1800" u="none" cap="none" strike="noStrike">
                <a:solidFill>
                  <a:schemeClr val="lt1"/>
                </a:solidFill>
                <a:latin typeface="Arial"/>
                <a:ea typeface="Arial"/>
                <a:cs typeface="Arial"/>
                <a:sym typeface="Arial"/>
              </a:endParaRPr>
            </a:p>
          </p:txBody>
        </p:sp>
        <p:sp>
          <p:nvSpPr>
            <p:cNvPr id="1114" name="Google Shape;1114;p22"/>
            <p:cNvSpPr/>
            <p:nvPr/>
          </p:nvSpPr>
          <p:spPr>
            <a:xfrm>
              <a:off x="2132" y="7185"/>
              <a:ext cx="826" cy="826"/>
            </a:xfrm>
            <a:prstGeom prst="ellipse">
              <a:avLst/>
            </a:prstGeom>
            <a:solidFill>
              <a:srgbClr val="2F53BA"/>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115" name="Google Shape;1115;p22"/>
            <p:cNvSpPr txBox="1"/>
            <p:nvPr/>
          </p:nvSpPr>
          <p:spPr>
            <a:xfrm>
              <a:off x="2141" y="8156"/>
              <a:ext cx="11422" cy="241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262626"/>
                  </a:solidFill>
                  <a:latin typeface="Arial"/>
                  <a:ea typeface="Arial"/>
                  <a:cs typeface="Arial"/>
                  <a:sym typeface="Arial"/>
                </a:rPr>
                <a:t>✔ Can power personalized digital health apps</a:t>
              </a:r>
              <a:br>
                <a:rPr b="0" i="0" lang="en-US" sz="1600" u="none" cap="none" strike="noStrike">
                  <a:solidFill>
                    <a:srgbClr val="262626"/>
                  </a:solidFill>
                  <a:latin typeface="Arial"/>
                  <a:ea typeface="Arial"/>
                  <a:cs typeface="Arial"/>
                  <a:sym typeface="Arial"/>
                </a:rPr>
              </a:br>
              <a:r>
                <a:rPr b="0" i="0" lang="en-US" sz="1600" u="none" cap="none" strike="noStrike">
                  <a:solidFill>
                    <a:srgbClr val="262626"/>
                  </a:solidFill>
                  <a:latin typeface="Arial"/>
                  <a:ea typeface="Arial"/>
                  <a:cs typeface="Arial"/>
                  <a:sym typeface="Arial"/>
                </a:rPr>
                <a:t>✔ Basis for occupational wellness &amp; sleep programs</a:t>
              </a:r>
              <a:br>
                <a:rPr b="0" i="0" lang="en-US" sz="1600" u="none" cap="none" strike="noStrike">
                  <a:solidFill>
                    <a:srgbClr val="262626"/>
                  </a:solidFill>
                  <a:latin typeface="Arial"/>
                  <a:ea typeface="Arial"/>
                  <a:cs typeface="Arial"/>
                  <a:sym typeface="Arial"/>
                </a:rPr>
              </a:br>
              <a:r>
                <a:rPr b="0" i="0" lang="en-US" sz="1600" u="none" cap="none" strike="noStrike">
                  <a:solidFill>
                    <a:srgbClr val="262626"/>
                  </a:solidFill>
                  <a:latin typeface="Arial"/>
                  <a:ea typeface="Arial"/>
                  <a:cs typeface="Arial"/>
                  <a:sym typeface="Arial"/>
                </a:rPr>
                <a:t>✔ Risk scoring for insurance / employer health benefits</a:t>
              </a:r>
              <a:br>
                <a:rPr b="0" i="0" lang="en-US" sz="1600" u="none" cap="none" strike="noStrike">
                  <a:solidFill>
                    <a:srgbClr val="262626"/>
                  </a:solidFill>
                  <a:latin typeface="Arial"/>
                  <a:ea typeface="Arial"/>
                  <a:cs typeface="Arial"/>
                  <a:sym typeface="Arial"/>
                </a:rPr>
              </a:br>
              <a:r>
                <a:rPr b="0" i="0" lang="en-US" sz="1600" u="none" cap="none" strike="noStrike">
                  <a:solidFill>
                    <a:srgbClr val="262626"/>
                  </a:solidFill>
                  <a:latin typeface="Arial"/>
                  <a:ea typeface="Arial"/>
                  <a:cs typeface="Arial"/>
                  <a:sym typeface="Arial"/>
                </a:rPr>
                <a:t>✔ Early detection &amp; prevention strategy</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23"/>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1" name="Google Shape;1121;p23"/>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22" name="Google Shape;1122;p23"/>
          <p:cNvGrpSpPr/>
          <p:nvPr/>
        </p:nvGrpSpPr>
        <p:grpSpPr>
          <a:xfrm>
            <a:off x="178379" y="5425831"/>
            <a:ext cx="699837" cy="576543"/>
            <a:chOff x="342900" y="171450"/>
            <a:chExt cx="1028700" cy="847468"/>
          </a:xfrm>
        </p:grpSpPr>
        <p:grpSp>
          <p:nvGrpSpPr>
            <p:cNvPr id="1123" name="Google Shape;1123;p23"/>
            <p:cNvGrpSpPr/>
            <p:nvPr/>
          </p:nvGrpSpPr>
          <p:grpSpPr>
            <a:xfrm>
              <a:off x="342900" y="504825"/>
              <a:ext cx="1028700" cy="180718"/>
              <a:chOff x="342900" y="495300"/>
              <a:chExt cx="1409700" cy="247650"/>
            </a:xfrm>
          </p:grpSpPr>
          <p:sp>
            <p:nvSpPr>
              <p:cNvPr id="1124" name="Google Shape;1124;p2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5" name="Google Shape;1125;p2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6" name="Google Shape;1126;p2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7" name="Google Shape;1127;p2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28" name="Google Shape;1128;p23"/>
            <p:cNvGrpSpPr/>
            <p:nvPr/>
          </p:nvGrpSpPr>
          <p:grpSpPr>
            <a:xfrm>
              <a:off x="342900" y="838200"/>
              <a:ext cx="1028700" cy="180718"/>
              <a:chOff x="342900" y="495300"/>
              <a:chExt cx="1409700" cy="247650"/>
            </a:xfrm>
          </p:grpSpPr>
          <p:sp>
            <p:nvSpPr>
              <p:cNvPr id="1129" name="Google Shape;1129;p2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0" name="Google Shape;1130;p2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1" name="Google Shape;1131;p2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2" name="Google Shape;1132;p2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33" name="Google Shape;1133;p23"/>
            <p:cNvGrpSpPr/>
            <p:nvPr/>
          </p:nvGrpSpPr>
          <p:grpSpPr>
            <a:xfrm>
              <a:off x="342900" y="171450"/>
              <a:ext cx="1028700" cy="180718"/>
              <a:chOff x="342900" y="495300"/>
              <a:chExt cx="1409700" cy="247650"/>
            </a:xfrm>
          </p:grpSpPr>
          <p:sp>
            <p:nvSpPr>
              <p:cNvPr id="1134" name="Google Shape;1134;p23"/>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5" name="Google Shape;1135;p23"/>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6" name="Google Shape;1136;p23"/>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7" name="Google Shape;1137;p23"/>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1138" name="Google Shape;1138;p23"/>
          <p:cNvGrpSpPr/>
          <p:nvPr/>
        </p:nvGrpSpPr>
        <p:grpSpPr>
          <a:xfrm>
            <a:off x="10722184" y="257737"/>
            <a:ext cx="705853" cy="581499"/>
            <a:chOff x="342900" y="171450"/>
            <a:chExt cx="1028700" cy="847468"/>
          </a:xfrm>
        </p:grpSpPr>
        <p:grpSp>
          <p:nvGrpSpPr>
            <p:cNvPr id="1139" name="Google Shape;1139;p23"/>
            <p:cNvGrpSpPr/>
            <p:nvPr/>
          </p:nvGrpSpPr>
          <p:grpSpPr>
            <a:xfrm>
              <a:off x="342900" y="504825"/>
              <a:ext cx="1028700" cy="180718"/>
              <a:chOff x="342900" y="495300"/>
              <a:chExt cx="1409700" cy="247650"/>
            </a:xfrm>
          </p:grpSpPr>
          <p:sp>
            <p:nvSpPr>
              <p:cNvPr id="1140" name="Google Shape;1140;p2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1" name="Google Shape;1141;p2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2" name="Google Shape;1142;p2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3" name="Google Shape;1143;p2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44" name="Google Shape;1144;p23"/>
            <p:cNvGrpSpPr/>
            <p:nvPr/>
          </p:nvGrpSpPr>
          <p:grpSpPr>
            <a:xfrm>
              <a:off x="342900" y="838200"/>
              <a:ext cx="1028700" cy="180718"/>
              <a:chOff x="342900" y="495300"/>
              <a:chExt cx="1409700" cy="247650"/>
            </a:xfrm>
          </p:grpSpPr>
          <p:sp>
            <p:nvSpPr>
              <p:cNvPr id="1145" name="Google Shape;1145;p2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6" name="Google Shape;1146;p2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7" name="Google Shape;1147;p2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8" name="Google Shape;1148;p2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49" name="Google Shape;1149;p23"/>
            <p:cNvGrpSpPr/>
            <p:nvPr/>
          </p:nvGrpSpPr>
          <p:grpSpPr>
            <a:xfrm>
              <a:off x="342900" y="171450"/>
              <a:ext cx="1028700" cy="180718"/>
              <a:chOff x="342900" y="495300"/>
              <a:chExt cx="1409700" cy="247650"/>
            </a:xfrm>
          </p:grpSpPr>
          <p:sp>
            <p:nvSpPr>
              <p:cNvPr id="1150" name="Google Shape;1150;p23"/>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1" name="Google Shape;1151;p23"/>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2" name="Google Shape;1152;p23"/>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3" name="Google Shape;1153;p23"/>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154" name="Google Shape;1154;p23"/>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5" name="Google Shape;1155;p23"/>
          <p:cNvSpPr txBox="1"/>
          <p:nvPr/>
        </p:nvSpPr>
        <p:spPr>
          <a:xfrm>
            <a:off x="878216" y="520685"/>
            <a:ext cx="41235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Recommendations</a:t>
            </a:r>
            <a:endParaRPr b="1" i="0" sz="2800" u="none" cap="none" strike="noStrike">
              <a:solidFill>
                <a:schemeClr val="dk1"/>
              </a:solidFill>
              <a:latin typeface="Arial"/>
              <a:ea typeface="Arial"/>
              <a:cs typeface="Arial"/>
              <a:sym typeface="Arial"/>
            </a:endParaRPr>
          </a:p>
        </p:txBody>
      </p:sp>
      <p:sp>
        <p:nvSpPr>
          <p:cNvPr id="1156" name="Google Shape;1156;p23"/>
          <p:cNvSpPr/>
          <p:nvPr/>
        </p:nvSpPr>
        <p:spPr>
          <a:xfrm rot="-8315264">
            <a:off x="264878" y="217511"/>
            <a:ext cx="534870" cy="680399"/>
          </a:xfrm>
          <a:prstGeom prst="triangle">
            <a:avLst>
              <a:gd fmla="val 50000"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57" name="Google Shape;1157;p23"/>
          <p:cNvSpPr txBox="1"/>
          <p:nvPr/>
        </p:nvSpPr>
        <p:spPr>
          <a:xfrm>
            <a:off x="1193978" y="2066829"/>
            <a:ext cx="10216191" cy="33855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Design tailored interventions based on behavioral clusters (e.g., stress reduction, sleep hygiene, digital detox).</a:t>
            </a:r>
            <a:endParaRPr b="0" i="0" sz="1400" u="none" cap="none" strike="noStrike">
              <a:solidFill>
                <a:srgbClr val="000000"/>
              </a:solidFill>
              <a:latin typeface="Arial"/>
              <a:ea typeface="Arial"/>
              <a:cs typeface="Arial"/>
              <a:sym typeface="Arial"/>
            </a:endParaRPr>
          </a:p>
        </p:txBody>
      </p:sp>
      <p:sp>
        <p:nvSpPr>
          <p:cNvPr id="1158" name="Google Shape;1158;p23"/>
          <p:cNvSpPr/>
          <p:nvPr/>
        </p:nvSpPr>
        <p:spPr>
          <a:xfrm>
            <a:off x="1013122" y="1384154"/>
            <a:ext cx="5288952" cy="444500"/>
          </a:xfrm>
          <a:prstGeom prst="rect">
            <a:avLst/>
          </a:prstGeom>
          <a:solidFill>
            <a:srgbClr val="2F53BA"/>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Targeted Sleep Health Programs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9" name="Google Shape;1159;p23"/>
          <p:cNvSpPr txBox="1"/>
          <p:nvPr/>
        </p:nvSpPr>
        <p:spPr>
          <a:xfrm>
            <a:off x="1193978" y="3408872"/>
            <a:ext cx="9327141" cy="33855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Use Circadian Risk Score for personalized monitoring and early detection of sleep disorder risk.</a:t>
            </a:r>
            <a:endParaRPr b="0" i="0" sz="1400" u="none" cap="none" strike="noStrike">
              <a:solidFill>
                <a:srgbClr val="000000"/>
              </a:solidFill>
              <a:latin typeface="Arial"/>
              <a:ea typeface="Arial"/>
              <a:cs typeface="Arial"/>
              <a:sym typeface="Arial"/>
            </a:endParaRPr>
          </a:p>
        </p:txBody>
      </p:sp>
      <p:sp>
        <p:nvSpPr>
          <p:cNvPr id="1160" name="Google Shape;1160;p23"/>
          <p:cNvSpPr/>
          <p:nvPr/>
        </p:nvSpPr>
        <p:spPr>
          <a:xfrm>
            <a:off x="1013123" y="4028843"/>
            <a:ext cx="5288952" cy="444500"/>
          </a:xfrm>
          <a:prstGeom prst="rect">
            <a:avLst/>
          </a:prstGeom>
          <a:solidFill>
            <a:srgbClr val="2F53BA"/>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Occupation-Specific Wellness Solutions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1" name="Google Shape;1161;p23"/>
          <p:cNvSpPr txBox="1"/>
          <p:nvPr/>
        </p:nvSpPr>
        <p:spPr>
          <a:xfrm>
            <a:off x="1193978" y="4651797"/>
            <a:ext cx="9648374" cy="33855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Develop customized sleep support programs for high-risk professions, such as doctors and lawyers.</a:t>
            </a:r>
            <a:endParaRPr b="0" i="0" sz="1400" u="none" cap="none" strike="noStrike">
              <a:solidFill>
                <a:srgbClr val="000000"/>
              </a:solidFill>
              <a:latin typeface="Arial"/>
              <a:ea typeface="Arial"/>
              <a:cs typeface="Arial"/>
              <a:sym typeface="Arial"/>
            </a:endParaRPr>
          </a:p>
        </p:txBody>
      </p:sp>
      <p:sp>
        <p:nvSpPr>
          <p:cNvPr id="1162" name="Google Shape;1162;p23"/>
          <p:cNvSpPr/>
          <p:nvPr/>
        </p:nvSpPr>
        <p:spPr>
          <a:xfrm>
            <a:off x="1013122" y="2684901"/>
            <a:ext cx="5760206" cy="444500"/>
          </a:xfrm>
          <a:prstGeom prst="rect">
            <a:avLst/>
          </a:prstGeom>
          <a:solidFill>
            <a:srgbClr val="FFB71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Integrate Risk Score into Digital Health Platforms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63" name="Google Shape;1163;p23"/>
          <p:cNvSpPr txBox="1"/>
          <p:nvPr/>
        </p:nvSpPr>
        <p:spPr>
          <a:xfrm>
            <a:off x="1193978" y="5819450"/>
            <a:ext cx="9792990" cy="33855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Collaborate with employers, insurance providers, and hospitals to deliver sleep and wellness solutions.</a:t>
            </a:r>
            <a:endParaRPr b="0" i="0" sz="1400" u="none" cap="none" strike="noStrike">
              <a:solidFill>
                <a:srgbClr val="000000"/>
              </a:solidFill>
              <a:latin typeface="Arial"/>
              <a:ea typeface="Arial"/>
              <a:cs typeface="Arial"/>
              <a:sym typeface="Arial"/>
            </a:endParaRPr>
          </a:p>
        </p:txBody>
      </p:sp>
      <p:sp>
        <p:nvSpPr>
          <p:cNvPr id="1164" name="Google Shape;1164;p23"/>
          <p:cNvSpPr/>
          <p:nvPr/>
        </p:nvSpPr>
        <p:spPr>
          <a:xfrm>
            <a:off x="1013125" y="5201425"/>
            <a:ext cx="6141000" cy="444600"/>
          </a:xfrm>
          <a:prstGeom prst="rect">
            <a:avLst/>
          </a:prstGeom>
          <a:solidFill>
            <a:srgbClr val="FFB71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Corporate Partnerships &amp; Preventive Health Services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pic>
        <p:nvPicPr>
          <p:cNvPr id="1169" name="Google Shape;1169;p24"/>
          <p:cNvPicPr preferRelativeResize="0"/>
          <p:nvPr/>
        </p:nvPicPr>
        <p:blipFill rotWithShape="1">
          <a:blip r:embed="rId3">
            <a:alphaModFix/>
          </a:blip>
          <a:srcRect b="0" l="0" r="0" t="0"/>
          <a:stretch/>
        </p:blipFill>
        <p:spPr>
          <a:xfrm>
            <a:off x="1524" y="0"/>
            <a:ext cx="12188951" cy="6858000"/>
          </a:xfrm>
          <a:prstGeom prst="rect">
            <a:avLst/>
          </a:prstGeom>
          <a:noFill/>
          <a:ln>
            <a:noFill/>
          </a:ln>
        </p:spPr>
      </p:pic>
      <p:sp>
        <p:nvSpPr>
          <p:cNvPr id="1170" name="Google Shape;1170;p24"/>
          <p:cNvSpPr/>
          <p:nvPr/>
        </p:nvSpPr>
        <p:spPr>
          <a:xfrm rot="10800000">
            <a:off x="0" y="1738121"/>
            <a:ext cx="12192000" cy="5119879"/>
          </a:xfrm>
          <a:custGeom>
            <a:rect b="b" l="l" r="r" t="t"/>
            <a:pathLst>
              <a:path extrusionOk="0" h="2557" w="6089">
                <a:moveTo>
                  <a:pt x="0" y="2557"/>
                </a:moveTo>
                <a:lnTo>
                  <a:pt x="6089" y="0"/>
                </a:lnTo>
                <a:lnTo>
                  <a:pt x="0" y="0"/>
                </a:lnTo>
                <a:lnTo>
                  <a:pt x="0" y="2557"/>
                </a:lnTo>
                <a:close/>
              </a:path>
            </a:pathLst>
          </a:custGeom>
          <a:solidFill>
            <a:srgbClr val="FFB7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1" name="Google Shape;1171;p24"/>
          <p:cNvSpPr/>
          <p:nvPr/>
        </p:nvSpPr>
        <p:spPr>
          <a:xfrm rot="10800000">
            <a:off x="-2" y="-2"/>
            <a:ext cx="7315201" cy="6859877"/>
          </a:xfrm>
          <a:custGeom>
            <a:rect b="b" l="l" r="r" t="t"/>
            <a:pathLst>
              <a:path extrusionOk="0" h="3426" w="2935">
                <a:moveTo>
                  <a:pt x="0" y="0"/>
                </a:moveTo>
                <a:lnTo>
                  <a:pt x="2935" y="0"/>
                </a:lnTo>
                <a:lnTo>
                  <a:pt x="2935" y="3426"/>
                </a:lnTo>
                <a:lnTo>
                  <a:pt x="0" y="0"/>
                </a:lnTo>
                <a:close/>
              </a:path>
            </a:pathLst>
          </a:custGeom>
          <a:solidFill>
            <a:srgbClr val="2F53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72" name="Google Shape;1172;p24"/>
          <p:cNvGrpSpPr/>
          <p:nvPr/>
        </p:nvGrpSpPr>
        <p:grpSpPr>
          <a:xfrm>
            <a:off x="178379" y="5425831"/>
            <a:ext cx="699837" cy="576543"/>
            <a:chOff x="342900" y="171450"/>
            <a:chExt cx="1028700" cy="847468"/>
          </a:xfrm>
        </p:grpSpPr>
        <p:grpSp>
          <p:nvGrpSpPr>
            <p:cNvPr id="1173" name="Google Shape;1173;p24"/>
            <p:cNvGrpSpPr/>
            <p:nvPr/>
          </p:nvGrpSpPr>
          <p:grpSpPr>
            <a:xfrm>
              <a:off x="342900" y="504825"/>
              <a:ext cx="1028700" cy="180718"/>
              <a:chOff x="342900" y="495300"/>
              <a:chExt cx="1409700" cy="247650"/>
            </a:xfrm>
          </p:grpSpPr>
          <p:sp>
            <p:nvSpPr>
              <p:cNvPr id="1174" name="Google Shape;1174;p2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5" name="Google Shape;1175;p2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6" name="Google Shape;1176;p2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7" name="Google Shape;1177;p2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78" name="Google Shape;1178;p24"/>
            <p:cNvGrpSpPr/>
            <p:nvPr/>
          </p:nvGrpSpPr>
          <p:grpSpPr>
            <a:xfrm>
              <a:off x="342900" y="838200"/>
              <a:ext cx="1028700" cy="180718"/>
              <a:chOff x="342900" y="495300"/>
              <a:chExt cx="1409700" cy="247650"/>
            </a:xfrm>
          </p:grpSpPr>
          <p:sp>
            <p:nvSpPr>
              <p:cNvPr id="1179" name="Google Shape;1179;p2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0" name="Google Shape;1180;p2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1" name="Google Shape;1181;p2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2" name="Google Shape;1182;p2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83" name="Google Shape;1183;p24"/>
            <p:cNvGrpSpPr/>
            <p:nvPr/>
          </p:nvGrpSpPr>
          <p:grpSpPr>
            <a:xfrm>
              <a:off x="342900" y="171450"/>
              <a:ext cx="1028700" cy="180718"/>
              <a:chOff x="342900" y="495300"/>
              <a:chExt cx="1409700" cy="247650"/>
            </a:xfrm>
          </p:grpSpPr>
          <p:sp>
            <p:nvSpPr>
              <p:cNvPr id="1184" name="Google Shape;1184;p24"/>
              <p:cNvSpPr/>
              <p:nvPr/>
            </p:nvSpPr>
            <p:spPr>
              <a:xfrm>
                <a:off x="7302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5" name="Google Shape;1185;p24"/>
              <p:cNvSpPr/>
              <p:nvPr/>
            </p:nvSpPr>
            <p:spPr>
              <a:xfrm>
                <a:off x="11176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6" name="Google Shape;1186;p24"/>
              <p:cNvSpPr/>
              <p:nvPr/>
            </p:nvSpPr>
            <p:spPr>
              <a:xfrm>
                <a:off x="34290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7" name="Google Shape;1187;p24"/>
              <p:cNvSpPr/>
              <p:nvPr/>
            </p:nvSpPr>
            <p:spPr>
              <a:xfrm>
                <a:off x="1504950" y="495300"/>
                <a:ext cx="247650" cy="2476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grpSp>
        <p:nvGrpSpPr>
          <p:cNvPr id="1188" name="Google Shape;1188;p24"/>
          <p:cNvGrpSpPr/>
          <p:nvPr/>
        </p:nvGrpSpPr>
        <p:grpSpPr>
          <a:xfrm>
            <a:off x="10722184" y="257737"/>
            <a:ext cx="705853" cy="581499"/>
            <a:chOff x="342900" y="171450"/>
            <a:chExt cx="1028700" cy="847468"/>
          </a:xfrm>
        </p:grpSpPr>
        <p:grpSp>
          <p:nvGrpSpPr>
            <p:cNvPr id="1189" name="Google Shape;1189;p24"/>
            <p:cNvGrpSpPr/>
            <p:nvPr/>
          </p:nvGrpSpPr>
          <p:grpSpPr>
            <a:xfrm>
              <a:off x="342900" y="504825"/>
              <a:ext cx="1028700" cy="180718"/>
              <a:chOff x="342900" y="495300"/>
              <a:chExt cx="1409700" cy="247650"/>
            </a:xfrm>
          </p:grpSpPr>
          <p:sp>
            <p:nvSpPr>
              <p:cNvPr id="1190" name="Google Shape;1190;p2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1" name="Google Shape;1191;p2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2" name="Google Shape;1192;p2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3" name="Google Shape;1193;p2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94" name="Google Shape;1194;p24"/>
            <p:cNvGrpSpPr/>
            <p:nvPr/>
          </p:nvGrpSpPr>
          <p:grpSpPr>
            <a:xfrm>
              <a:off x="342900" y="838200"/>
              <a:ext cx="1028700" cy="180718"/>
              <a:chOff x="342900" y="495300"/>
              <a:chExt cx="1409700" cy="247650"/>
            </a:xfrm>
          </p:grpSpPr>
          <p:sp>
            <p:nvSpPr>
              <p:cNvPr id="1195" name="Google Shape;1195;p2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6" name="Google Shape;1196;p2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7" name="Google Shape;1197;p2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8" name="Google Shape;1198;p2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199" name="Google Shape;1199;p24"/>
            <p:cNvGrpSpPr/>
            <p:nvPr/>
          </p:nvGrpSpPr>
          <p:grpSpPr>
            <a:xfrm>
              <a:off x="342900" y="171450"/>
              <a:ext cx="1028700" cy="180718"/>
              <a:chOff x="342900" y="495300"/>
              <a:chExt cx="1409700" cy="247650"/>
            </a:xfrm>
          </p:grpSpPr>
          <p:sp>
            <p:nvSpPr>
              <p:cNvPr id="1200" name="Google Shape;1200;p24"/>
              <p:cNvSpPr/>
              <p:nvPr/>
            </p:nvSpPr>
            <p:spPr>
              <a:xfrm>
                <a:off x="7302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1" name="Google Shape;1201;p24"/>
              <p:cNvSpPr/>
              <p:nvPr/>
            </p:nvSpPr>
            <p:spPr>
              <a:xfrm>
                <a:off x="11176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2" name="Google Shape;1202;p24"/>
              <p:cNvSpPr/>
              <p:nvPr/>
            </p:nvSpPr>
            <p:spPr>
              <a:xfrm>
                <a:off x="34290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3" name="Google Shape;1203;p24"/>
              <p:cNvSpPr/>
              <p:nvPr/>
            </p:nvSpPr>
            <p:spPr>
              <a:xfrm>
                <a:off x="1504950" y="495300"/>
                <a:ext cx="247650" cy="247650"/>
              </a:xfrm>
              <a:prstGeom prst="ellipse">
                <a:avLst/>
              </a:prstGeom>
              <a:solidFill>
                <a:srgbClr val="2F53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1204" name="Google Shape;1204;p24"/>
          <p:cNvSpPr/>
          <p:nvPr/>
        </p:nvSpPr>
        <p:spPr>
          <a:xfrm rot="-5400000">
            <a:off x="11305771" y="5859605"/>
            <a:ext cx="1281471" cy="172198"/>
          </a:xfrm>
          <a:custGeom>
            <a:rect b="b" l="l" r="r" t="t"/>
            <a:pathLst>
              <a:path extrusionOk="0" h="86" w="640">
                <a:moveTo>
                  <a:pt x="321" y="86"/>
                </a:moveTo>
                <a:lnTo>
                  <a:pt x="258" y="33"/>
                </a:lnTo>
                <a:lnTo>
                  <a:pt x="195" y="86"/>
                </a:lnTo>
                <a:lnTo>
                  <a:pt x="134" y="33"/>
                </a:lnTo>
                <a:lnTo>
                  <a:pt x="71" y="86"/>
                </a:lnTo>
                <a:lnTo>
                  <a:pt x="0" y="27"/>
                </a:lnTo>
                <a:lnTo>
                  <a:pt x="17" y="6"/>
                </a:lnTo>
                <a:lnTo>
                  <a:pt x="71" y="51"/>
                </a:lnTo>
                <a:lnTo>
                  <a:pt x="134" y="0"/>
                </a:lnTo>
                <a:lnTo>
                  <a:pt x="195" y="51"/>
                </a:lnTo>
                <a:lnTo>
                  <a:pt x="258" y="0"/>
                </a:lnTo>
                <a:lnTo>
                  <a:pt x="321" y="51"/>
                </a:lnTo>
                <a:lnTo>
                  <a:pt x="384" y="0"/>
                </a:lnTo>
                <a:lnTo>
                  <a:pt x="445" y="51"/>
                </a:lnTo>
                <a:lnTo>
                  <a:pt x="508" y="0"/>
                </a:lnTo>
                <a:lnTo>
                  <a:pt x="571" y="51"/>
                </a:lnTo>
                <a:lnTo>
                  <a:pt x="623" y="6"/>
                </a:lnTo>
                <a:lnTo>
                  <a:pt x="640" y="27"/>
                </a:lnTo>
                <a:lnTo>
                  <a:pt x="571" y="86"/>
                </a:lnTo>
                <a:lnTo>
                  <a:pt x="508" y="33"/>
                </a:lnTo>
                <a:lnTo>
                  <a:pt x="445" y="86"/>
                </a:lnTo>
                <a:lnTo>
                  <a:pt x="384" y="33"/>
                </a:lnTo>
                <a:lnTo>
                  <a:pt x="321" y="8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5" name="Google Shape;1205;p24"/>
          <p:cNvSpPr/>
          <p:nvPr/>
        </p:nvSpPr>
        <p:spPr>
          <a:xfrm>
            <a:off x="649298" y="592813"/>
            <a:ext cx="10965125" cy="5744502"/>
          </a:xfrm>
          <a:prstGeom prst="rect">
            <a:avLst/>
          </a:prstGeom>
          <a:solidFill>
            <a:srgbClr val="FFFFFF"/>
          </a:solidFill>
          <a:ln>
            <a:noFill/>
          </a:ln>
          <a:effectLst>
            <a:outerShdw sx="101000" rotWithShape="0" algn="tl" dir="4200000" dist="88900" sy="101000">
              <a:srgbClr val="000000"/>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6" name="Google Shape;1206;p24"/>
          <p:cNvSpPr/>
          <p:nvPr/>
        </p:nvSpPr>
        <p:spPr>
          <a:xfrm rot="772410">
            <a:off x="520514" y="282079"/>
            <a:ext cx="534870" cy="680399"/>
          </a:xfrm>
          <a:prstGeom prst="triangle">
            <a:avLst>
              <a:gd fmla="val 50000" name="adj"/>
            </a:avLst>
          </a:prstGeom>
          <a:noFill/>
          <a:ln cap="flat" cmpd="sng" w="114300">
            <a:solidFill>
              <a:srgbClr val="2F53B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07" name="Google Shape;1207;p24"/>
          <p:cNvSpPr/>
          <p:nvPr/>
        </p:nvSpPr>
        <p:spPr>
          <a:xfrm rot="-4741079">
            <a:off x="10790257" y="5602204"/>
            <a:ext cx="683420" cy="847057"/>
          </a:xfrm>
          <a:prstGeom prst="triangle">
            <a:avLst>
              <a:gd fmla="val 14177" name="adj"/>
            </a:avLst>
          </a:prstGeom>
          <a:noFill/>
          <a:ln cap="flat" cmpd="sng" w="114300">
            <a:solidFill>
              <a:srgbClr val="FFB71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08" name="Google Shape;1208;p24"/>
          <p:cNvSpPr/>
          <p:nvPr/>
        </p:nvSpPr>
        <p:spPr>
          <a:xfrm>
            <a:off x="2109115" y="2597558"/>
            <a:ext cx="8045490"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2F53BA"/>
                </a:solidFill>
                <a:latin typeface="Arial"/>
                <a:ea typeface="Arial"/>
                <a:cs typeface="Arial"/>
                <a:sym typeface="Arial"/>
              </a:rPr>
              <a:t>THANKS!</a:t>
            </a:r>
            <a:endParaRPr b="1" i="0" sz="7200" u="none" cap="none" strike="noStrike">
              <a:solidFill>
                <a:srgbClr val="2F53BA"/>
              </a:solidFill>
              <a:latin typeface="Arial"/>
              <a:ea typeface="Arial"/>
              <a:cs typeface="Arial"/>
              <a:sym typeface="Arial"/>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第一PPT，www.1ppt.com">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自定义设计方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2022-10-03T03:57:45Z</dcterms:created>
  <dc:creator>第一PPT，www.1ppt.com</dc:creator>
</cp:coreProperties>
</file>